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  <p:sldId id="268" r:id="rId19"/>
    <p:sldId id="269" r:id="rId20"/>
    <p:sldId id="270" r:id="rId2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782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1673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1673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1673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1673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1673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1673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1673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1673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1673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1673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1673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1673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5564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5564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5564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5564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5564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5564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5564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5564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75564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5564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5564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5564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9456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9456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9456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9456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9456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9456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9456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9456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9456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9456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19456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9456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3347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3347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3347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63347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3347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3347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63347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3347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63347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63347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63347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63347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07238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07238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07238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7238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07238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07238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7238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7238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07238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07238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07238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07238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51129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51129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51129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51129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51129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1129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1129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1129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1129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51129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1129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51129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95020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95020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95020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95020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95020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95020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95020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95020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95020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5020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95020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5020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38912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38912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38912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38912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38912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8912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2803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2803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2803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2803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2803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2803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2803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2803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2803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82803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82803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82803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26694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6694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26694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26694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26694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26694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26694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26694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26694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26694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26694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26694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70585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70585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70585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70585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70585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70585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70585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70585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70585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70585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70585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70585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14476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14476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14476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14476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14476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14476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14476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14476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14476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14476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14476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14476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58368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58368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58368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58368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58368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58368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58368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58368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58368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58368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58368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58368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02259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02259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02259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02259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02259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02259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2259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2259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02259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02259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02259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02259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6150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6150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6150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6150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6150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6150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46150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46150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46150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46150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46150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46150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041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041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041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041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041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041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041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041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90041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90041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90041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90041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33932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33932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33932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33932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33932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33932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33932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33932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33932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33932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33932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33932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77824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77824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77824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77824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77824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77824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77824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77824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77824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77824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77824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77824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2286000" y="548640"/>
            <a:ext cx="4572000" cy="4572000"/>
          </a:xfrm>
          <a:prstGeom prst="ellipse">
            <a:avLst/>
          </a:prstGeom>
          <a:solidFill>
            <a:srgbClr val="001A2E"/>
          </a:solidFill>
          <a:ln w="12700">
            <a:solidFill>
              <a:srgbClr val="002035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-100" kern="0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must-iq</a:t>
            </a:r>
            <a:endParaRPr lang="en-US" sz="8000" dirty="0"/>
          </a:p>
        </p:txBody>
      </p:sp>
      <p:sp>
        <p:nvSpPr>
          <p:cNvPr id="256" name="Text 254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A5568"/>
                </a:solidFill>
              </a:rPr>
              <a:t>Your data. Your model. Your control.</a:t>
            </a:r>
            <a:endParaRPr lang="en-US" sz="1500" dirty="0"/>
          </a:p>
        </p:txBody>
      </p:sp>
      <p:sp>
        <p:nvSpPr>
          <p:cNvPr id="257" name="Shape 255"/>
          <p:cNvSpPr/>
          <p:nvPr/>
        </p:nvSpPr>
        <p:spPr>
          <a:xfrm>
            <a:off x="3200400" y="3154680"/>
            <a:ext cx="2743200" cy="13716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005840" y="3383280"/>
            <a:ext cx="1019556" cy="292608"/>
          </a:xfrm>
          <a:prstGeom prst="roundRect">
            <a:avLst>
              <a:gd name="adj" fmla="val 50000"/>
            </a:avLst>
          </a:prstGeom>
          <a:solidFill>
            <a:srgbClr val="0C1220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1005840" y="3383280"/>
            <a:ext cx="10195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9D6FFF"/>
                </a:solidFill>
              </a:rPr>
              <a:t>LANGCHAIN</a:t>
            </a:r>
            <a:endParaRPr lang="en-US" sz="750" dirty="0"/>
          </a:p>
        </p:txBody>
      </p:sp>
      <p:sp>
        <p:nvSpPr>
          <p:cNvPr id="260" name="Shape 258"/>
          <p:cNvSpPr/>
          <p:nvPr/>
        </p:nvSpPr>
        <p:spPr>
          <a:xfrm>
            <a:off x="2208276" y="3383280"/>
            <a:ext cx="941832" cy="292608"/>
          </a:xfrm>
          <a:prstGeom prst="roundRect">
            <a:avLst>
              <a:gd name="adj" fmla="val 50000"/>
            </a:avLst>
          </a:prstGeom>
          <a:solidFill>
            <a:srgbClr val="0C1220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2208276" y="3383280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FF9D"/>
                </a:solidFill>
              </a:rPr>
              <a:t>PGVECTOR</a:t>
            </a:r>
            <a:endParaRPr lang="en-US" sz="750" dirty="0"/>
          </a:p>
        </p:txBody>
      </p:sp>
      <p:sp>
        <p:nvSpPr>
          <p:cNvPr id="262" name="Shape 260"/>
          <p:cNvSpPr/>
          <p:nvPr/>
        </p:nvSpPr>
        <p:spPr>
          <a:xfrm>
            <a:off x="3332988" y="3383280"/>
            <a:ext cx="1175004" cy="292608"/>
          </a:xfrm>
          <a:prstGeom prst="roundRect">
            <a:avLst>
              <a:gd name="adj" fmla="val 50000"/>
            </a:avLst>
          </a:prstGeom>
          <a:solidFill>
            <a:srgbClr val="0C122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3332988" y="3383280"/>
            <a:ext cx="11750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B740"/>
                </a:solidFill>
              </a:rPr>
              <a:t>NX MONOREPO</a:t>
            </a:r>
            <a:endParaRPr lang="en-US" sz="750" dirty="0"/>
          </a:p>
        </p:txBody>
      </p:sp>
      <p:sp>
        <p:nvSpPr>
          <p:cNvPr id="264" name="Shape 262"/>
          <p:cNvSpPr/>
          <p:nvPr/>
        </p:nvSpPr>
        <p:spPr>
          <a:xfrm>
            <a:off x="4690872" y="3383280"/>
            <a:ext cx="1252728" cy="292608"/>
          </a:xfrm>
          <a:prstGeom prst="roundRect">
            <a:avLst>
              <a:gd name="adj" fmla="val 50000"/>
            </a:avLst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4690872" y="338328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D4FF"/>
                </a:solidFill>
              </a:rPr>
              <a:t>LLM SETTINGS</a:t>
            </a:r>
            <a:endParaRPr lang="en-US" sz="750" dirty="0"/>
          </a:p>
        </p:txBody>
      </p:sp>
      <p:sp>
        <p:nvSpPr>
          <p:cNvPr id="266" name="Text 26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4A5568"/>
                </a:solidFill>
              </a:rPr>
              <a:t>Must Company  ·  Internal AI Platform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782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1673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1673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1673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1673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1673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1673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1673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1673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1673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1673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1673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1673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5564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5564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5564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5564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5564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5564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5564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5564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75564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5564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5564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5564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9456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9456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9456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9456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9456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9456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9456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9456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9456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9456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19456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9456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3347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3347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3347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63347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3347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3347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63347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3347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63347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63347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63347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63347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07238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07238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07238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7238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07238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07238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7238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7238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07238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07238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07238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07238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51129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51129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51129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51129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51129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1129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1129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1129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1129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51129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1129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51129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95020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95020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95020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95020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95020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95020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95020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95020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95020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5020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95020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5020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38912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38912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38912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38912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38912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8912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2803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2803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2803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2803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2803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2803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2803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2803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2803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82803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82803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82803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26694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6694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26694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26694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26694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26694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26694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26694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26694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26694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26694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26694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70585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70585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70585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70585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70585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70585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70585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70585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70585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70585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70585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70585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14476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14476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14476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14476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14476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14476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14476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14476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14476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14476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14476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14476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58368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58368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58368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58368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58368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58368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58368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58368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58368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58368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58368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58368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02259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02259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02259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02259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02259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02259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2259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2259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02259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02259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02259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02259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6150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6150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6150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6150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6150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6150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46150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46150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46150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46150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46150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46150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041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041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041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041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041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041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041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041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90041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90041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90041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90041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33932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33932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33932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33932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33932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33932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33932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33932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33932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33932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33932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33932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77824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77824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77824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77824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77824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77824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77824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77824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77824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77824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77824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77824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50292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4D6D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255" name="Text 253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Just Use ChatGPT?</a:t>
            </a:r>
            <a:endParaRPr lang="en-US" sz="3200" dirty="0"/>
          </a:p>
        </p:txBody>
      </p:sp>
      <p:sp>
        <p:nvSpPr>
          <p:cNvPr id="256" name="Text 254"/>
          <p:cNvSpPr/>
          <p:nvPr/>
        </p:nvSpPr>
        <p:spPr>
          <a:xfrm>
            <a:off x="502920" y="111556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Every external query is a risk to Must Company's data</a:t>
            </a:r>
            <a:endParaRPr lang="en-US" sz="1200" dirty="0"/>
          </a:p>
        </p:txBody>
      </p:sp>
      <p:sp>
        <p:nvSpPr>
          <p:cNvPr id="257" name="Shape 255"/>
          <p:cNvSpPr/>
          <p:nvPr/>
        </p:nvSpPr>
        <p:spPr>
          <a:xfrm>
            <a:off x="365760" y="1463040"/>
            <a:ext cx="4114800" cy="1371600"/>
          </a:xfrm>
          <a:prstGeom prst="rect">
            <a:avLst/>
          </a:prstGeom>
          <a:solidFill>
            <a:srgbClr val="1A0810"/>
          </a:solidFill>
          <a:ln w="12700">
            <a:solidFill>
              <a:srgbClr val="3D1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8" name="Shape 256"/>
          <p:cNvSpPr/>
          <p:nvPr/>
        </p:nvSpPr>
        <p:spPr>
          <a:xfrm>
            <a:off x="365760" y="1463040"/>
            <a:ext cx="4114800" cy="36576"/>
          </a:xfrm>
          <a:prstGeom prst="rect">
            <a:avLst/>
          </a:prstGeom>
          <a:solidFill>
            <a:srgbClr val="FF4D6D">
              <a:alpha val="6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548640" y="1600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</a:t>
            </a:r>
            <a:endParaRPr lang="en-US" sz="2200" dirty="0"/>
          </a:p>
        </p:txBody>
      </p:sp>
      <p:sp>
        <p:nvSpPr>
          <p:cNvPr id="260" name="Text 258"/>
          <p:cNvSpPr/>
          <p:nvPr/>
        </p:nvSpPr>
        <p:spPr>
          <a:xfrm>
            <a:off x="1051560" y="1600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Stored Externally</a:t>
            </a:r>
            <a:endParaRPr lang="en-US" sz="1300" dirty="0"/>
          </a:p>
        </p:txBody>
      </p:sp>
      <p:sp>
        <p:nvSpPr>
          <p:cNvPr id="261" name="Text 259"/>
          <p:cNvSpPr/>
          <p:nvPr/>
        </p:nvSpPr>
        <p:spPr>
          <a:xfrm>
            <a:off x="548640" y="199339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Every query, doc, and response stored on OpenAI's servers. HR, legal, and financial data leaves your control.</a:t>
            </a:r>
            <a:endParaRPr lang="en-US" sz="1050" dirty="0"/>
          </a:p>
        </p:txBody>
      </p:sp>
      <p:sp>
        <p:nvSpPr>
          <p:cNvPr id="262" name="Shape 260"/>
          <p:cNvSpPr/>
          <p:nvPr/>
        </p:nvSpPr>
        <p:spPr>
          <a:xfrm>
            <a:off x="4663440" y="1463040"/>
            <a:ext cx="4114800" cy="1371600"/>
          </a:xfrm>
          <a:prstGeom prst="rect">
            <a:avLst/>
          </a:prstGeom>
          <a:solidFill>
            <a:srgbClr val="1A0810"/>
          </a:solidFill>
          <a:ln w="12700">
            <a:solidFill>
              <a:srgbClr val="3D1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3" name="Shape 261"/>
          <p:cNvSpPr/>
          <p:nvPr/>
        </p:nvSpPr>
        <p:spPr>
          <a:xfrm>
            <a:off x="4663440" y="1463040"/>
            <a:ext cx="4114800" cy="36576"/>
          </a:xfrm>
          <a:prstGeom prst="rect">
            <a:avLst/>
          </a:prstGeom>
          <a:solidFill>
            <a:srgbClr val="FF4D6D">
              <a:alpha val="6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4846320" y="1600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65" name="Text 263"/>
          <p:cNvSpPr/>
          <p:nvPr/>
        </p:nvSpPr>
        <p:spPr>
          <a:xfrm>
            <a:off x="5349240" y="1600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Token Cost Control</a:t>
            </a:r>
            <a:endParaRPr lang="en-US" sz="1300" dirty="0"/>
          </a:p>
        </p:txBody>
      </p:sp>
      <p:sp>
        <p:nvSpPr>
          <p:cNvPr id="266" name="Text 264"/>
          <p:cNvSpPr/>
          <p:nvPr/>
        </p:nvSpPr>
        <p:spPr>
          <a:xfrm>
            <a:off x="4846320" y="199339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No per-user limits, no budget visibility. Token bills spike unpredictably with no enforcement mechanism.</a:t>
            </a:r>
            <a:endParaRPr lang="en-US" sz="1050" dirty="0"/>
          </a:p>
        </p:txBody>
      </p:sp>
      <p:sp>
        <p:nvSpPr>
          <p:cNvPr id="267" name="Shape 265"/>
          <p:cNvSpPr/>
          <p:nvPr/>
        </p:nvSpPr>
        <p:spPr>
          <a:xfrm>
            <a:off x="365760" y="2971800"/>
            <a:ext cx="4114800" cy="1371600"/>
          </a:xfrm>
          <a:prstGeom prst="rect">
            <a:avLst/>
          </a:prstGeom>
          <a:solidFill>
            <a:srgbClr val="1A0810"/>
          </a:solidFill>
          <a:ln w="12700">
            <a:solidFill>
              <a:srgbClr val="3D1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8" name="Shape 266"/>
          <p:cNvSpPr/>
          <p:nvPr/>
        </p:nvSpPr>
        <p:spPr>
          <a:xfrm>
            <a:off x="365760" y="2971800"/>
            <a:ext cx="4114800" cy="36576"/>
          </a:xfrm>
          <a:prstGeom prst="rect">
            <a:avLst/>
          </a:prstGeom>
          <a:solidFill>
            <a:srgbClr val="FF4D6D">
              <a:alpha val="6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548640" y="31089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70" name="Text 268"/>
          <p:cNvSpPr/>
          <p:nvPr/>
        </p:nvSpPr>
        <p:spPr>
          <a:xfrm>
            <a:off x="1051560" y="3108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Audit Trail</a:t>
            </a:r>
            <a:endParaRPr lang="en-US" sz="1300" dirty="0"/>
          </a:p>
        </p:txBody>
      </p:sp>
      <p:sp>
        <p:nvSpPr>
          <p:cNvPr id="271" name="Text 269"/>
          <p:cNvSpPr/>
          <p:nvPr/>
        </p:nvSpPr>
        <p:spPr>
          <a:xfrm>
            <a:off x="548640" y="350215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No record of what was asked, answered, or shared. Non-compliant with GDPR and internal security policies.</a:t>
            </a:r>
            <a:endParaRPr lang="en-US" sz="1050" dirty="0"/>
          </a:p>
        </p:txBody>
      </p:sp>
      <p:sp>
        <p:nvSpPr>
          <p:cNvPr id="272" name="Shape 270"/>
          <p:cNvSpPr/>
          <p:nvPr/>
        </p:nvSpPr>
        <p:spPr>
          <a:xfrm>
            <a:off x="4663440" y="2971800"/>
            <a:ext cx="4114800" cy="1371600"/>
          </a:xfrm>
          <a:prstGeom prst="rect">
            <a:avLst/>
          </a:prstGeom>
          <a:solidFill>
            <a:srgbClr val="1A0810"/>
          </a:solidFill>
          <a:ln w="12700">
            <a:solidFill>
              <a:srgbClr val="3D1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3" name="Shape 271"/>
          <p:cNvSpPr/>
          <p:nvPr/>
        </p:nvSpPr>
        <p:spPr>
          <a:xfrm>
            <a:off x="4663440" y="2971800"/>
            <a:ext cx="4114800" cy="36576"/>
          </a:xfrm>
          <a:prstGeom prst="rect">
            <a:avLst/>
          </a:prstGeom>
          <a:solidFill>
            <a:srgbClr val="FF4D6D">
              <a:alpha val="6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4846320" y="31089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275" name="Text 273"/>
          <p:cNvSpPr/>
          <p:nvPr/>
        </p:nvSpPr>
        <p:spPr>
          <a:xfrm>
            <a:off x="5349240" y="3108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Internal Knowledge</a:t>
            </a:r>
            <a:endParaRPr lang="en-US" sz="1300" dirty="0"/>
          </a:p>
        </p:txBody>
      </p:sp>
      <p:sp>
        <p:nvSpPr>
          <p:cNvPr id="276" name="Text 274"/>
          <p:cNvSpPr/>
          <p:nvPr/>
        </p:nvSpPr>
        <p:spPr>
          <a:xfrm>
            <a:off x="4846320" y="350215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ChatGPT doesn't know your HR policies or IT runbooks. Employees search manually every time.</a:t>
            </a:r>
            <a:endParaRPr lang="en-US" sz="1050" dirty="0"/>
          </a:p>
        </p:txBody>
      </p:sp>
      <p:sp>
        <p:nvSpPr>
          <p:cNvPr id="277" name="Text 275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782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1673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1673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1673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1673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1673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1673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1673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1673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1673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1673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1673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1673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5564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5564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5564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5564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5564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5564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5564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5564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75564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5564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5564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5564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9456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9456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9456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9456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9456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9456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9456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9456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9456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9456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19456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9456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3347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3347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3347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63347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3347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3347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63347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3347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63347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63347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63347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63347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07238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07238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07238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7238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07238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07238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7238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7238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07238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07238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07238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07238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51129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51129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51129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51129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51129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1129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1129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1129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1129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51129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1129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51129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95020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95020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95020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95020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95020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95020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95020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95020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95020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5020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95020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5020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38912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38912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38912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38912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38912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8912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2803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2803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2803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2803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2803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2803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2803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2803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2803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82803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82803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82803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26694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6694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26694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26694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26694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26694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26694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26694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26694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26694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26694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26694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70585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70585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70585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70585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70585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70585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70585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70585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70585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70585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70585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70585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14476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14476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14476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14476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14476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14476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14476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14476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14476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14476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14476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14476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58368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58368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58368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58368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58368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58368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58368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58368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58368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58368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58368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58368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02259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02259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02259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02259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02259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02259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2259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2259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02259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02259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02259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02259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6150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6150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6150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6150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6150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6150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46150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46150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46150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46150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46150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46150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041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041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041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041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041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041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041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041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90041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90041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90041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90041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33932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33932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33932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33932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33932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33932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33932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33932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33932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33932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33932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33932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77824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77824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77824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77824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77824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77824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77824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77824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77824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77824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77824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77824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50292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00FF9D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255" name="Text 253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Must-IQ — Private AI for Must Company</a:t>
            </a:r>
            <a:endParaRPr lang="en-US" sz="3200" dirty="0"/>
          </a:p>
        </p:txBody>
      </p:sp>
      <p:sp>
        <p:nvSpPr>
          <p:cNvPr id="256" name="Text 254"/>
          <p:cNvSpPr/>
          <p:nvPr/>
        </p:nvSpPr>
        <p:spPr>
          <a:xfrm>
            <a:off x="502920" y="111556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Fully internal. No external storage. Full control.</a:t>
            </a:r>
            <a:endParaRPr lang="en-US" sz="1200" dirty="0"/>
          </a:p>
        </p:txBody>
      </p:sp>
      <p:sp>
        <p:nvSpPr>
          <p:cNvPr id="257" name="Shape 255"/>
          <p:cNvSpPr/>
          <p:nvPr/>
        </p:nvSpPr>
        <p:spPr>
          <a:xfrm>
            <a:off x="365760" y="1463040"/>
            <a:ext cx="2697480" cy="1371600"/>
          </a:xfrm>
          <a:prstGeom prst="rect">
            <a:avLst/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8" name="Shape 256"/>
          <p:cNvSpPr/>
          <p:nvPr/>
        </p:nvSpPr>
        <p:spPr>
          <a:xfrm>
            <a:off x="365760" y="1463040"/>
            <a:ext cx="2697480" cy="36576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530352" y="15727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D4FF"/>
                </a:solidFill>
              </a:rPr>
              <a:t>01</a:t>
            </a:r>
            <a:endParaRPr lang="en-US" sz="850" dirty="0"/>
          </a:p>
        </p:txBody>
      </p:sp>
      <p:sp>
        <p:nvSpPr>
          <p:cNvPr id="260" name="Text 258"/>
          <p:cNvSpPr/>
          <p:nvPr/>
        </p:nvSpPr>
        <p:spPr>
          <a:xfrm>
            <a:off x="530352" y="1783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Data Stays Yours</a:t>
            </a:r>
            <a:endParaRPr lang="en-US" sz="1250" dirty="0"/>
          </a:p>
        </p:txBody>
      </p:sp>
      <p:sp>
        <p:nvSpPr>
          <p:cNvPr id="261" name="Text 259"/>
          <p:cNvSpPr/>
          <p:nvPr/>
        </p:nvSpPr>
        <p:spPr>
          <a:xfrm>
            <a:off x="530352" y="21762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All queries stored in your own PostgreSQL. Zero data sent to external services.</a:t>
            </a:r>
            <a:endParaRPr lang="en-US" sz="950" dirty="0"/>
          </a:p>
        </p:txBody>
      </p:sp>
      <p:sp>
        <p:nvSpPr>
          <p:cNvPr id="262" name="Shape 260"/>
          <p:cNvSpPr/>
          <p:nvPr/>
        </p:nvSpPr>
        <p:spPr>
          <a:xfrm>
            <a:off x="3246120" y="1463040"/>
            <a:ext cx="2697480" cy="1371600"/>
          </a:xfrm>
          <a:prstGeom prst="rect">
            <a:avLst/>
          </a:prstGeom>
          <a:solidFill>
            <a:srgbClr val="0C1220"/>
          </a:solidFill>
          <a:ln w="12700">
            <a:solidFill>
              <a:srgbClr val="00FF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3" name="Shape 261"/>
          <p:cNvSpPr/>
          <p:nvPr/>
        </p:nvSpPr>
        <p:spPr>
          <a:xfrm>
            <a:off x="3246120" y="1463040"/>
            <a:ext cx="2697480" cy="36576"/>
          </a:xfrm>
          <a:prstGeom prst="rect">
            <a:avLst/>
          </a:prstGeom>
          <a:solidFill>
            <a:srgbClr val="00FF9D">
              <a:alpha val="70000"/>
            </a:srgbClr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3410712" y="15727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FF9D"/>
                </a:solidFill>
              </a:rPr>
              <a:t>02</a:t>
            </a:r>
            <a:endParaRPr lang="en-US" sz="850" dirty="0"/>
          </a:p>
        </p:txBody>
      </p:sp>
      <p:sp>
        <p:nvSpPr>
          <p:cNvPr id="265" name="Text 263"/>
          <p:cNvSpPr/>
          <p:nvPr/>
        </p:nvSpPr>
        <p:spPr>
          <a:xfrm>
            <a:off x="3410712" y="1783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Token Costs</a:t>
            </a:r>
            <a:endParaRPr lang="en-US" sz="1250" dirty="0"/>
          </a:p>
        </p:txBody>
      </p:sp>
      <p:sp>
        <p:nvSpPr>
          <p:cNvPr id="266" name="Text 264"/>
          <p:cNvSpPr/>
          <p:nvPr/>
        </p:nvSpPr>
        <p:spPr>
          <a:xfrm>
            <a:off x="3410712" y="21762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Per-user daily budgets in Redis. Response caching. Hard stops at quota limit.</a:t>
            </a:r>
            <a:endParaRPr lang="en-US" sz="950" dirty="0"/>
          </a:p>
        </p:txBody>
      </p:sp>
      <p:sp>
        <p:nvSpPr>
          <p:cNvPr id="267" name="Shape 265"/>
          <p:cNvSpPr/>
          <p:nvPr/>
        </p:nvSpPr>
        <p:spPr>
          <a:xfrm>
            <a:off x="6126480" y="1463040"/>
            <a:ext cx="2697480" cy="1371600"/>
          </a:xfrm>
          <a:prstGeom prst="rect">
            <a:avLst/>
          </a:prstGeom>
          <a:solidFill>
            <a:srgbClr val="0C1220"/>
          </a:solidFill>
          <a:ln w="12700">
            <a:solidFill>
              <a:srgbClr val="FFB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8" name="Shape 266"/>
          <p:cNvSpPr/>
          <p:nvPr/>
        </p:nvSpPr>
        <p:spPr>
          <a:xfrm>
            <a:off x="6126480" y="1463040"/>
            <a:ext cx="2697480" cy="36576"/>
          </a:xfrm>
          <a:prstGeom prst="rect">
            <a:avLst/>
          </a:prstGeom>
          <a:solidFill>
            <a:srgbClr val="FFB740">
              <a:alpha val="70000"/>
            </a:srgbClr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6291072" y="15727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B740"/>
                </a:solidFill>
              </a:rPr>
              <a:t>03</a:t>
            </a:r>
            <a:endParaRPr lang="en-US" sz="850" dirty="0"/>
          </a:p>
        </p:txBody>
      </p:sp>
      <p:sp>
        <p:nvSpPr>
          <p:cNvPr id="270" name="Text 268"/>
          <p:cNvSpPr/>
          <p:nvPr/>
        </p:nvSpPr>
        <p:spPr>
          <a:xfrm>
            <a:off x="6291072" y="1783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Audit Trail</a:t>
            </a:r>
            <a:endParaRPr lang="en-US" sz="1250" dirty="0"/>
          </a:p>
        </p:txBody>
      </p:sp>
      <p:sp>
        <p:nvSpPr>
          <p:cNvPr id="271" name="Text 269"/>
          <p:cNvSpPr/>
          <p:nvPr/>
        </p:nvSpPr>
        <p:spPr>
          <a:xfrm>
            <a:off x="6291072" y="21762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Every query logged with user, timestamp, tokens, and model. GDPR compliant.</a:t>
            </a:r>
            <a:endParaRPr lang="en-US" sz="950" dirty="0"/>
          </a:p>
        </p:txBody>
      </p:sp>
      <p:sp>
        <p:nvSpPr>
          <p:cNvPr id="272" name="Shape 270"/>
          <p:cNvSpPr/>
          <p:nvPr/>
        </p:nvSpPr>
        <p:spPr>
          <a:xfrm>
            <a:off x="365760" y="2971800"/>
            <a:ext cx="2697480" cy="1371600"/>
          </a:xfrm>
          <a:prstGeom prst="rect">
            <a:avLst/>
          </a:prstGeom>
          <a:solidFill>
            <a:srgbClr val="0C1220"/>
          </a:solidFill>
          <a:ln w="12700">
            <a:solidFill>
              <a:srgbClr val="9D6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3" name="Shape 271"/>
          <p:cNvSpPr/>
          <p:nvPr/>
        </p:nvSpPr>
        <p:spPr>
          <a:xfrm>
            <a:off x="365760" y="2971800"/>
            <a:ext cx="2697480" cy="36576"/>
          </a:xfrm>
          <a:prstGeom prst="rect">
            <a:avLst/>
          </a:prstGeom>
          <a:solidFill>
            <a:srgbClr val="9D6FFF">
              <a:alpha val="70000"/>
            </a:srgbClr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530352" y="30815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D6FFF"/>
                </a:solidFill>
              </a:rPr>
              <a:t>04</a:t>
            </a:r>
            <a:endParaRPr lang="en-US" sz="850" dirty="0"/>
          </a:p>
        </p:txBody>
      </p:sp>
      <p:sp>
        <p:nvSpPr>
          <p:cNvPr id="275" name="Text 273"/>
          <p:cNvSpPr/>
          <p:nvPr/>
        </p:nvSpPr>
        <p:spPr>
          <a:xfrm>
            <a:off x="530352" y="3291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Knowledge Base</a:t>
            </a:r>
            <a:endParaRPr lang="en-US" sz="1250" dirty="0"/>
          </a:p>
        </p:txBody>
      </p:sp>
      <p:sp>
        <p:nvSpPr>
          <p:cNvPr id="276" name="Text 274"/>
          <p:cNvSpPr/>
          <p:nvPr/>
        </p:nvSpPr>
        <p:spPr>
          <a:xfrm>
            <a:off x="530352" y="368503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Upload HR, IT, legal docs. RAG retrieves only what's relevant per question.</a:t>
            </a:r>
            <a:endParaRPr lang="en-US" sz="950" dirty="0"/>
          </a:p>
        </p:txBody>
      </p:sp>
      <p:sp>
        <p:nvSpPr>
          <p:cNvPr id="277" name="Shape 275"/>
          <p:cNvSpPr/>
          <p:nvPr/>
        </p:nvSpPr>
        <p:spPr>
          <a:xfrm>
            <a:off x="3246120" y="2971800"/>
            <a:ext cx="2697480" cy="1371600"/>
          </a:xfrm>
          <a:prstGeom prst="rect">
            <a:avLst/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8" name="Shape 276"/>
          <p:cNvSpPr/>
          <p:nvPr/>
        </p:nvSpPr>
        <p:spPr>
          <a:xfrm>
            <a:off x="3246120" y="2971800"/>
            <a:ext cx="2697480" cy="36576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3410712" y="30815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D4FF"/>
                </a:solidFill>
              </a:rPr>
              <a:t>05</a:t>
            </a:r>
            <a:endParaRPr lang="en-US" sz="850" dirty="0"/>
          </a:p>
        </p:txBody>
      </p:sp>
      <p:sp>
        <p:nvSpPr>
          <p:cNvPr id="280" name="Text 278"/>
          <p:cNvSpPr/>
          <p:nvPr/>
        </p:nvSpPr>
        <p:spPr>
          <a:xfrm>
            <a:off x="3410712" y="3291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Switchable LLM</a:t>
            </a:r>
            <a:endParaRPr lang="en-US" sz="1250" dirty="0"/>
          </a:p>
        </p:txBody>
      </p:sp>
      <p:sp>
        <p:nvSpPr>
          <p:cNvPr id="281" name="Text 279"/>
          <p:cNvSpPr/>
          <p:nvPr/>
        </p:nvSpPr>
        <p:spPr>
          <a:xfrm>
            <a:off x="3410712" y="368503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Claude, OpenAI, Gemini, or local Ollama. Change from admin UI — no restart.</a:t>
            </a:r>
            <a:endParaRPr lang="en-US" sz="950" dirty="0"/>
          </a:p>
        </p:txBody>
      </p:sp>
      <p:sp>
        <p:nvSpPr>
          <p:cNvPr id="282" name="Shape 280"/>
          <p:cNvSpPr/>
          <p:nvPr/>
        </p:nvSpPr>
        <p:spPr>
          <a:xfrm>
            <a:off x="6126480" y="2971800"/>
            <a:ext cx="2697480" cy="1371600"/>
          </a:xfrm>
          <a:prstGeom prst="rect">
            <a:avLst/>
          </a:prstGeom>
          <a:solidFill>
            <a:srgbClr val="0C1220"/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3" name="Shape 281"/>
          <p:cNvSpPr/>
          <p:nvPr/>
        </p:nvSpPr>
        <p:spPr>
          <a:xfrm>
            <a:off x="6126480" y="2971800"/>
            <a:ext cx="2697480" cy="36576"/>
          </a:xfrm>
          <a:prstGeom prst="rect">
            <a:avLst/>
          </a:prstGeom>
          <a:solidFill>
            <a:srgbClr val="FF4D6D">
              <a:alpha val="7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6291072" y="30815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4D6D"/>
                </a:solidFill>
              </a:rPr>
              <a:t>06</a:t>
            </a:r>
            <a:endParaRPr lang="en-US" sz="850" dirty="0"/>
          </a:p>
        </p:txBody>
      </p:sp>
      <p:sp>
        <p:nvSpPr>
          <p:cNvPr id="285" name="Text 283"/>
          <p:cNvSpPr/>
          <p:nvPr/>
        </p:nvSpPr>
        <p:spPr>
          <a:xfrm>
            <a:off x="6291072" y="3291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Isolation</a:t>
            </a:r>
            <a:endParaRPr lang="en-US" sz="1250" dirty="0"/>
          </a:p>
        </p:txBody>
      </p:sp>
      <p:sp>
        <p:nvSpPr>
          <p:cNvPr id="286" name="Text 284"/>
          <p:cNvSpPr/>
          <p:nvPr/>
        </p:nvSpPr>
        <p:spPr>
          <a:xfrm>
            <a:off x="6291072" y="368503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HR can't access Finance docs. RBAC enforced. Every request is dept-scoped.</a:t>
            </a:r>
            <a:endParaRPr lang="en-US" sz="950" dirty="0"/>
          </a:p>
        </p:txBody>
      </p:sp>
      <p:sp>
        <p:nvSpPr>
          <p:cNvPr id="287" name="Text 285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782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1673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1673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1673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1673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1673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1673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1673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1673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1673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1673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1673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1673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5564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5564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5564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5564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5564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5564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5564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5564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75564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5564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5564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5564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9456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9456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9456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9456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9456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9456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9456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9456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9456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9456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19456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9456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3347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3347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3347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63347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3347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3347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63347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3347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63347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63347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63347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63347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07238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07238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07238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7238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07238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07238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7238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7238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07238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07238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07238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07238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51129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51129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51129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51129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51129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1129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1129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1129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1129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51129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1129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51129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95020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95020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95020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95020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95020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95020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95020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95020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95020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5020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95020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5020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38912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38912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38912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38912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38912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8912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2803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2803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2803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2803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2803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2803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2803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2803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2803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82803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82803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82803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26694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6694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26694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26694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26694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26694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26694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26694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26694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26694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26694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26694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70585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70585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70585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70585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70585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70585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70585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70585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70585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70585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70585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70585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14476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14476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14476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14476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14476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14476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14476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14476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14476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14476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14476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14476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58368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58368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58368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58368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58368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58368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58368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58368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58368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58368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58368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58368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02259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02259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02259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02259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02259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02259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2259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2259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02259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02259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02259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02259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6150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6150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6150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6150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6150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6150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46150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46150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46150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46150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46150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46150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041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041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041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041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041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041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041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041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90041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90041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90041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90041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33932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33932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33932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33932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33932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33932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33932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33932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33932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33932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33932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33932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77824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77824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77824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77824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77824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77824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77824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77824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77824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77824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77824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77824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50292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00D4FF"/>
                </a:solidFill>
              </a:rPr>
              <a:t>SYSTEM ARCHITECTURE</a:t>
            </a:r>
            <a:endParaRPr lang="en-US" sz="800" dirty="0"/>
          </a:p>
        </p:txBody>
      </p:sp>
      <p:sp>
        <p:nvSpPr>
          <p:cNvPr id="255" name="Text 253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Must-IQ Works</a:t>
            </a:r>
            <a:endParaRPr lang="en-US" sz="3200" dirty="0"/>
          </a:p>
        </p:txBody>
      </p:sp>
      <p:sp>
        <p:nvSpPr>
          <p:cNvPr id="256" name="Text 254"/>
          <p:cNvSpPr/>
          <p:nvPr/>
        </p:nvSpPr>
        <p:spPr>
          <a:xfrm>
            <a:off x="502920" y="111556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Request flow from browser to database</a:t>
            </a:r>
            <a:endParaRPr lang="en-US" sz="1200" dirty="0"/>
          </a:p>
        </p:txBody>
      </p:sp>
      <p:sp>
        <p:nvSpPr>
          <p:cNvPr id="257" name="Shape 255"/>
          <p:cNvSpPr/>
          <p:nvPr/>
        </p:nvSpPr>
        <p:spPr>
          <a:xfrm>
            <a:off x="365760" y="1417320"/>
            <a:ext cx="2740152" cy="713232"/>
          </a:xfrm>
          <a:prstGeom prst="rect">
            <a:avLst/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8" name="Shape 256"/>
          <p:cNvSpPr/>
          <p:nvPr/>
        </p:nvSpPr>
        <p:spPr>
          <a:xfrm>
            <a:off x="365760" y="1417320"/>
            <a:ext cx="45720" cy="7132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493776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60" name="Text 258"/>
          <p:cNvSpPr/>
          <p:nvPr/>
        </p:nvSpPr>
        <p:spPr>
          <a:xfrm>
            <a:off x="914400" y="1508760"/>
            <a:ext cx="2100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Web UI</a:t>
            </a:r>
            <a:endParaRPr lang="en-US" sz="1100" dirty="0"/>
          </a:p>
        </p:txBody>
      </p:sp>
      <p:sp>
        <p:nvSpPr>
          <p:cNvPr id="261" name="Text 259"/>
          <p:cNvSpPr/>
          <p:nvPr/>
        </p:nvSpPr>
        <p:spPr>
          <a:xfrm>
            <a:off x="914400" y="1801368"/>
            <a:ext cx="2100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Next.js 14 · Zustand</a:t>
            </a:r>
            <a:endParaRPr lang="en-US" sz="900" dirty="0"/>
          </a:p>
        </p:txBody>
      </p:sp>
      <p:sp>
        <p:nvSpPr>
          <p:cNvPr id="262" name="Shape 260"/>
          <p:cNvSpPr/>
          <p:nvPr/>
        </p:nvSpPr>
        <p:spPr>
          <a:xfrm>
            <a:off x="3233928" y="1417320"/>
            <a:ext cx="2740152" cy="713232"/>
          </a:xfrm>
          <a:prstGeom prst="rect">
            <a:avLst/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3" name="Shape 261"/>
          <p:cNvSpPr/>
          <p:nvPr/>
        </p:nvSpPr>
        <p:spPr>
          <a:xfrm>
            <a:off x="3233928" y="1417320"/>
            <a:ext cx="45720" cy="7132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3361944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65" name="Text 263"/>
          <p:cNvSpPr/>
          <p:nvPr/>
        </p:nvSpPr>
        <p:spPr>
          <a:xfrm>
            <a:off x="3782568" y="1508760"/>
            <a:ext cx="2100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Chat Interface</a:t>
            </a:r>
            <a:endParaRPr lang="en-US" sz="1100" dirty="0"/>
          </a:p>
        </p:txBody>
      </p:sp>
      <p:sp>
        <p:nvSpPr>
          <p:cNvPr id="266" name="Text 264"/>
          <p:cNvSpPr/>
          <p:nvPr/>
        </p:nvSpPr>
        <p:spPr>
          <a:xfrm>
            <a:off x="3782568" y="1801368"/>
            <a:ext cx="2100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SSE Streaming</a:t>
            </a:r>
            <a:endParaRPr lang="en-US" sz="900" dirty="0"/>
          </a:p>
        </p:txBody>
      </p:sp>
      <p:sp>
        <p:nvSpPr>
          <p:cNvPr id="267" name="Shape 265"/>
          <p:cNvSpPr/>
          <p:nvPr/>
        </p:nvSpPr>
        <p:spPr>
          <a:xfrm>
            <a:off x="6102096" y="1417320"/>
            <a:ext cx="2740152" cy="713232"/>
          </a:xfrm>
          <a:prstGeom prst="rect">
            <a:avLst/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8" name="Shape 266"/>
          <p:cNvSpPr/>
          <p:nvPr/>
        </p:nvSpPr>
        <p:spPr>
          <a:xfrm>
            <a:off x="6102096" y="1417320"/>
            <a:ext cx="45720" cy="7132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6230112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270" name="Text 268"/>
          <p:cNvSpPr/>
          <p:nvPr/>
        </p:nvSpPr>
        <p:spPr>
          <a:xfrm>
            <a:off x="6650736" y="1508760"/>
            <a:ext cx="2100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API Clients</a:t>
            </a:r>
            <a:endParaRPr lang="en-US" sz="1100" dirty="0"/>
          </a:p>
        </p:txBody>
      </p:sp>
      <p:sp>
        <p:nvSpPr>
          <p:cNvPr id="271" name="Text 269"/>
          <p:cNvSpPr/>
          <p:nvPr/>
        </p:nvSpPr>
        <p:spPr>
          <a:xfrm>
            <a:off x="6650736" y="1801368"/>
            <a:ext cx="2100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REST · Mobile</a:t>
            </a:r>
            <a:endParaRPr lang="en-US" sz="900" dirty="0"/>
          </a:p>
        </p:txBody>
      </p:sp>
      <p:sp>
        <p:nvSpPr>
          <p:cNvPr id="272" name="Shape 270"/>
          <p:cNvSpPr/>
          <p:nvPr/>
        </p:nvSpPr>
        <p:spPr>
          <a:xfrm>
            <a:off x="4343400" y="2167128"/>
            <a:ext cx="457200" cy="201168"/>
          </a:xfrm>
          <a:prstGeom prst="ellipse">
            <a:avLst/>
          </a:prstGeom>
          <a:solidFill>
            <a:srgbClr val="04060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4343400" y="21671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↓</a:t>
            </a:r>
            <a:endParaRPr lang="en-US" sz="1000" dirty="0"/>
          </a:p>
        </p:txBody>
      </p:sp>
      <p:sp>
        <p:nvSpPr>
          <p:cNvPr id="274" name="Shape 272"/>
          <p:cNvSpPr/>
          <p:nvPr/>
        </p:nvSpPr>
        <p:spPr>
          <a:xfrm>
            <a:off x="365760" y="2331720"/>
            <a:ext cx="8412480" cy="713232"/>
          </a:xfrm>
          <a:prstGeom prst="rect">
            <a:avLst/>
          </a:prstGeom>
          <a:solidFill>
            <a:srgbClr val="0C1220"/>
          </a:solidFill>
          <a:ln w="12700">
            <a:solidFill>
              <a:srgbClr val="FFB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5" name="Shape 273"/>
          <p:cNvSpPr/>
          <p:nvPr/>
        </p:nvSpPr>
        <p:spPr>
          <a:xfrm>
            <a:off x="365760" y="2331720"/>
            <a:ext cx="45720" cy="713232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54864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277" name="Text 275"/>
          <p:cNvSpPr/>
          <p:nvPr/>
        </p:nvSpPr>
        <p:spPr>
          <a:xfrm>
            <a:off x="100584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6FF"/>
                </a:solidFill>
              </a:rPr>
              <a:t>NestJS Gateway</a:t>
            </a:r>
            <a:endParaRPr lang="en-US" sz="1250" dirty="0"/>
          </a:p>
        </p:txBody>
      </p:sp>
      <p:sp>
        <p:nvSpPr>
          <p:cNvPr id="278" name="Text 276"/>
          <p:cNvSpPr/>
          <p:nvPr/>
        </p:nvSpPr>
        <p:spPr>
          <a:xfrm>
            <a:off x="1005840" y="27157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JWT · RBAC · Rate Limit · Audit Log · Token Budget</a:t>
            </a:r>
            <a:endParaRPr lang="en-US" sz="950" dirty="0"/>
          </a:p>
        </p:txBody>
      </p:sp>
      <p:sp>
        <p:nvSpPr>
          <p:cNvPr id="279" name="Shape 277"/>
          <p:cNvSpPr/>
          <p:nvPr/>
        </p:nvSpPr>
        <p:spPr>
          <a:xfrm>
            <a:off x="3931920" y="2514600"/>
            <a:ext cx="461772" cy="237744"/>
          </a:xfrm>
          <a:prstGeom prst="roundRect">
            <a:avLst>
              <a:gd name="adj" fmla="val 38462"/>
            </a:avLst>
          </a:prstGeom>
          <a:solidFill>
            <a:srgbClr val="04060D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3931920" y="2514600"/>
            <a:ext cx="4617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B740"/>
                </a:solidFill>
              </a:rPr>
              <a:t>JWT</a:t>
            </a:r>
            <a:endParaRPr lang="en-US" sz="750" dirty="0"/>
          </a:p>
        </p:txBody>
      </p:sp>
      <p:sp>
        <p:nvSpPr>
          <p:cNvPr id="281" name="Shape 279"/>
          <p:cNvSpPr/>
          <p:nvPr/>
        </p:nvSpPr>
        <p:spPr>
          <a:xfrm>
            <a:off x="4521708" y="2514600"/>
            <a:ext cx="530352" cy="237744"/>
          </a:xfrm>
          <a:prstGeom prst="roundRect">
            <a:avLst>
              <a:gd name="adj" fmla="val 38462"/>
            </a:avLst>
          </a:prstGeom>
          <a:solidFill>
            <a:srgbClr val="04060D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4521708" y="251460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B740"/>
                </a:solidFill>
              </a:rPr>
              <a:t>RBAC</a:t>
            </a:r>
            <a:endParaRPr lang="en-US" sz="750" dirty="0"/>
          </a:p>
        </p:txBody>
      </p:sp>
      <p:sp>
        <p:nvSpPr>
          <p:cNvPr id="283" name="Shape 281"/>
          <p:cNvSpPr/>
          <p:nvPr/>
        </p:nvSpPr>
        <p:spPr>
          <a:xfrm>
            <a:off x="5180076" y="2514600"/>
            <a:ext cx="941832" cy="237744"/>
          </a:xfrm>
          <a:prstGeom prst="roundRect">
            <a:avLst>
              <a:gd name="adj" fmla="val 38462"/>
            </a:avLst>
          </a:prstGeom>
          <a:solidFill>
            <a:srgbClr val="04060D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5180076" y="2514600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B740"/>
                </a:solidFill>
              </a:rPr>
              <a:t>Rate Limit</a:t>
            </a:r>
            <a:endParaRPr lang="en-US" sz="750" dirty="0"/>
          </a:p>
        </p:txBody>
      </p:sp>
      <p:sp>
        <p:nvSpPr>
          <p:cNvPr id="285" name="Shape 283"/>
          <p:cNvSpPr/>
          <p:nvPr/>
        </p:nvSpPr>
        <p:spPr>
          <a:xfrm>
            <a:off x="6249924" y="2514600"/>
            <a:ext cx="873252" cy="237744"/>
          </a:xfrm>
          <a:prstGeom prst="roundRect">
            <a:avLst>
              <a:gd name="adj" fmla="val 38462"/>
            </a:avLst>
          </a:prstGeom>
          <a:solidFill>
            <a:srgbClr val="04060D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6249924" y="2514600"/>
            <a:ext cx="8732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B740"/>
                </a:solidFill>
              </a:rPr>
              <a:t>Audit Log</a:t>
            </a:r>
            <a:endParaRPr lang="en-US" sz="750" dirty="0"/>
          </a:p>
        </p:txBody>
      </p:sp>
      <p:sp>
        <p:nvSpPr>
          <p:cNvPr id="287" name="Shape 285"/>
          <p:cNvSpPr/>
          <p:nvPr/>
        </p:nvSpPr>
        <p:spPr>
          <a:xfrm>
            <a:off x="7251192" y="2514600"/>
            <a:ext cx="1078992" cy="237744"/>
          </a:xfrm>
          <a:prstGeom prst="roundRect">
            <a:avLst>
              <a:gd name="adj" fmla="val 38462"/>
            </a:avLst>
          </a:prstGeom>
          <a:solidFill>
            <a:srgbClr val="04060D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7251192" y="2514600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B740"/>
                </a:solidFill>
              </a:rPr>
              <a:t>Token Budget</a:t>
            </a:r>
            <a:endParaRPr lang="en-US" sz="750" dirty="0"/>
          </a:p>
        </p:txBody>
      </p:sp>
      <p:sp>
        <p:nvSpPr>
          <p:cNvPr id="289" name="Shape 287"/>
          <p:cNvSpPr/>
          <p:nvPr/>
        </p:nvSpPr>
        <p:spPr>
          <a:xfrm>
            <a:off x="4343400" y="3081528"/>
            <a:ext cx="457200" cy="201168"/>
          </a:xfrm>
          <a:prstGeom prst="ellipse">
            <a:avLst/>
          </a:prstGeom>
          <a:solidFill>
            <a:srgbClr val="04060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4343400" y="3081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↓</a:t>
            </a:r>
            <a:endParaRPr lang="en-US" sz="1000" dirty="0"/>
          </a:p>
        </p:txBody>
      </p:sp>
      <p:sp>
        <p:nvSpPr>
          <p:cNvPr id="291" name="Shape 289"/>
          <p:cNvSpPr/>
          <p:nvPr/>
        </p:nvSpPr>
        <p:spPr>
          <a:xfrm>
            <a:off x="365760" y="3200400"/>
            <a:ext cx="8412480" cy="713232"/>
          </a:xfrm>
          <a:prstGeom prst="rect">
            <a:avLst/>
          </a:prstGeom>
          <a:solidFill>
            <a:srgbClr val="0C1220"/>
          </a:solidFill>
          <a:ln w="12700">
            <a:solidFill>
              <a:srgbClr val="9D6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2" name="Shape 290"/>
          <p:cNvSpPr/>
          <p:nvPr/>
        </p:nvSpPr>
        <p:spPr>
          <a:xfrm>
            <a:off x="365760" y="3200400"/>
            <a:ext cx="45720" cy="713232"/>
          </a:xfrm>
          <a:prstGeom prst="rect">
            <a:avLst/>
          </a:prstGeom>
          <a:solidFill>
            <a:srgbClr val="9D6FFF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93" name="Text 291"/>
          <p:cNvSpPr/>
          <p:nvPr/>
        </p:nvSpPr>
        <p:spPr>
          <a:xfrm>
            <a:off x="54864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🦜</a:t>
            </a:r>
            <a:endParaRPr lang="en-US" sz="2000" dirty="0"/>
          </a:p>
        </p:txBody>
      </p:sp>
      <p:sp>
        <p:nvSpPr>
          <p:cNvPr id="294" name="Text 292"/>
          <p:cNvSpPr/>
          <p:nvPr/>
        </p:nvSpPr>
        <p:spPr>
          <a:xfrm>
            <a:off x="100584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6FF"/>
                </a:solidFill>
              </a:rPr>
              <a:t>LangChain AI Engine</a:t>
            </a:r>
            <a:endParaRPr lang="en-US" sz="1250" dirty="0"/>
          </a:p>
        </p:txBody>
      </p:sp>
      <p:sp>
        <p:nvSpPr>
          <p:cNvPr id="295" name="Text 293"/>
          <p:cNvSpPr/>
          <p:nvPr/>
        </p:nvSpPr>
        <p:spPr>
          <a:xfrm>
            <a:off x="1005840" y="358444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RAG Chain · LangGraph Agent · Memory · Streaming · Tools</a:t>
            </a:r>
            <a:endParaRPr lang="en-US" sz="950" dirty="0"/>
          </a:p>
        </p:txBody>
      </p:sp>
      <p:sp>
        <p:nvSpPr>
          <p:cNvPr id="296" name="Shape 294"/>
          <p:cNvSpPr/>
          <p:nvPr/>
        </p:nvSpPr>
        <p:spPr>
          <a:xfrm>
            <a:off x="3931920" y="3383280"/>
            <a:ext cx="873252" cy="237744"/>
          </a:xfrm>
          <a:prstGeom prst="roundRect">
            <a:avLst>
              <a:gd name="adj" fmla="val 38462"/>
            </a:avLst>
          </a:prstGeom>
          <a:solidFill>
            <a:srgbClr val="04060D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97" name="Text 295"/>
          <p:cNvSpPr/>
          <p:nvPr/>
        </p:nvSpPr>
        <p:spPr>
          <a:xfrm>
            <a:off x="3931920" y="3383280"/>
            <a:ext cx="8732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D6FFF"/>
                </a:solidFill>
              </a:rPr>
              <a:t>RAG Chain</a:t>
            </a:r>
            <a:endParaRPr lang="en-US" sz="750" dirty="0"/>
          </a:p>
        </p:txBody>
      </p:sp>
      <p:sp>
        <p:nvSpPr>
          <p:cNvPr id="298" name="Shape 296"/>
          <p:cNvSpPr/>
          <p:nvPr/>
        </p:nvSpPr>
        <p:spPr>
          <a:xfrm>
            <a:off x="4933188" y="3383280"/>
            <a:ext cx="1284732" cy="237744"/>
          </a:xfrm>
          <a:prstGeom prst="roundRect">
            <a:avLst>
              <a:gd name="adj" fmla="val 38462"/>
            </a:avLst>
          </a:prstGeom>
          <a:solidFill>
            <a:srgbClr val="04060D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99" name="Text 297"/>
          <p:cNvSpPr/>
          <p:nvPr/>
        </p:nvSpPr>
        <p:spPr>
          <a:xfrm>
            <a:off x="4933188" y="3383280"/>
            <a:ext cx="1284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D6FFF"/>
                </a:solidFill>
              </a:rPr>
              <a:t>LangGraph Agent</a:t>
            </a:r>
            <a:endParaRPr lang="en-US" sz="750" dirty="0"/>
          </a:p>
        </p:txBody>
      </p:sp>
      <p:sp>
        <p:nvSpPr>
          <p:cNvPr id="300" name="Shape 298"/>
          <p:cNvSpPr/>
          <p:nvPr/>
        </p:nvSpPr>
        <p:spPr>
          <a:xfrm>
            <a:off x="6345936" y="3383280"/>
            <a:ext cx="667512" cy="237744"/>
          </a:xfrm>
          <a:prstGeom prst="roundRect">
            <a:avLst>
              <a:gd name="adj" fmla="val 38462"/>
            </a:avLst>
          </a:prstGeom>
          <a:solidFill>
            <a:srgbClr val="04060D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6345936" y="3383280"/>
            <a:ext cx="667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D6FFF"/>
                </a:solidFill>
              </a:rPr>
              <a:t>Memory</a:t>
            </a:r>
            <a:endParaRPr lang="en-US" sz="750" dirty="0"/>
          </a:p>
        </p:txBody>
      </p:sp>
      <p:sp>
        <p:nvSpPr>
          <p:cNvPr id="302" name="Shape 300"/>
          <p:cNvSpPr/>
          <p:nvPr/>
        </p:nvSpPr>
        <p:spPr>
          <a:xfrm>
            <a:off x="7141464" y="3383280"/>
            <a:ext cx="873252" cy="237744"/>
          </a:xfrm>
          <a:prstGeom prst="roundRect">
            <a:avLst>
              <a:gd name="adj" fmla="val 38462"/>
            </a:avLst>
          </a:prstGeom>
          <a:solidFill>
            <a:srgbClr val="04060D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303" name="Text 301"/>
          <p:cNvSpPr/>
          <p:nvPr/>
        </p:nvSpPr>
        <p:spPr>
          <a:xfrm>
            <a:off x="7141464" y="3383280"/>
            <a:ext cx="8732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D6FFF"/>
                </a:solidFill>
              </a:rPr>
              <a:t>Streaming</a:t>
            </a:r>
            <a:endParaRPr lang="en-US" sz="750" dirty="0"/>
          </a:p>
        </p:txBody>
      </p:sp>
      <p:sp>
        <p:nvSpPr>
          <p:cNvPr id="304" name="Shape 302"/>
          <p:cNvSpPr/>
          <p:nvPr/>
        </p:nvSpPr>
        <p:spPr>
          <a:xfrm>
            <a:off x="8142732" y="3383280"/>
            <a:ext cx="598932" cy="237744"/>
          </a:xfrm>
          <a:prstGeom prst="roundRect">
            <a:avLst>
              <a:gd name="adj" fmla="val 38462"/>
            </a:avLst>
          </a:prstGeom>
          <a:solidFill>
            <a:srgbClr val="04060D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305" name="Text 303"/>
          <p:cNvSpPr/>
          <p:nvPr/>
        </p:nvSpPr>
        <p:spPr>
          <a:xfrm>
            <a:off x="8142732" y="3383280"/>
            <a:ext cx="5989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D6FFF"/>
                </a:solidFill>
              </a:rPr>
              <a:t>Tools</a:t>
            </a:r>
            <a:endParaRPr lang="en-US" sz="750" dirty="0"/>
          </a:p>
        </p:txBody>
      </p:sp>
      <p:sp>
        <p:nvSpPr>
          <p:cNvPr id="306" name="Shape 304"/>
          <p:cNvSpPr/>
          <p:nvPr/>
        </p:nvSpPr>
        <p:spPr>
          <a:xfrm>
            <a:off x="4343400" y="3950208"/>
            <a:ext cx="457200" cy="201168"/>
          </a:xfrm>
          <a:prstGeom prst="ellipse">
            <a:avLst/>
          </a:prstGeom>
          <a:solidFill>
            <a:srgbClr val="04060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7" name="Text 305"/>
          <p:cNvSpPr/>
          <p:nvPr/>
        </p:nvSpPr>
        <p:spPr>
          <a:xfrm>
            <a:off x="4343400" y="39502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↓</a:t>
            </a:r>
            <a:endParaRPr lang="en-US" sz="1000" dirty="0"/>
          </a:p>
        </p:txBody>
      </p:sp>
      <p:sp>
        <p:nvSpPr>
          <p:cNvPr id="308" name="Shape 306"/>
          <p:cNvSpPr/>
          <p:nvPr/>
        </p:nvSpPr>
        <p:spPr>
          <a:xfrm>
            <a:off x="365760" y="4069080"/>
            <a:ext cx="2740152" cy="713232"/>
          </a:xfrm>
          <a:prstGeom prst="rect">
            <a:avLst/>
          </a:prstGeom>
          <a:solidFill>
            <a:srgbClr val="0C1220"/>
          </a:solidFill>
          <a:ln w="12700">
            <a:solidFill>
              <a:srgbClr val="00FF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9" name="Shape 307"/>
          <p:cNvSpPr/>
          <p:nvPr/>
        </p:nvSpPr>
        <p:spPr>
          <a:xfrm>
            <a:off x="365760" y="4069080"/>
            <a:ext cx="45720" cy="713232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493776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</a:t>
            </a:r>
            <a:endParaRPr lang="en-US" sz="1800" dirty="0"/>
          </a:p>
        </p:txBody>
      </p:sp>
      <p:sp>
        <p:nvSpPr>
          <p:cNvPr id="311" name="Text 309"/>
          <p:cNvSpPr/>
          <p:nvPr/>
        </p:nvSpPr>
        <p:spPr>
          <a:xfrm>
            <a:off x="914400" y="4160520"/>
            <a:ext cx="2100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PostgreSQL + pgvector</a:t>
            </a:r>
            <a:endParaRPr lang="en-US" sz="1100" dirty="0"/>
          </a:p>
        </p:txBody>
      </p:sp>
      <p:sp>
        <p:nvSpPr>
          <p:cNvPr id="312" name="Text 310"/>
          <p:cNvSpPr/>
          <p:nvPr/>
        </p:nvSpPr>
        <p:spPr>
          <a:xfrm>
            <a:off x="914400" y="4453128"/>
            <a:ext cx="2100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Users · Sessions · Embeddings</a:t>
            </a:r>
            <a:endParaRPr lang="en-US" sz="900" dirty="0"/>
          </a:p>
        </p:txBody>
      </p:sp>
      <p:sp>
        <p:nvSpPr>
          <p:cNvPr id="313" name="Shape 311"/>
          <p:cNvSpPr/>
          <p:nvPr/>
        </p:nvSpPr>
        <p:spPr>
          <a:xfrm>
            <a:off x="3233928" y="4069080"/>
            <a:ext cx="2740152" cy="713232"/>
          </a:xfrm>
          <a:prstGeom prst="rect">
            <a:avLst/>
          </a:prstGeom>
          <a:solidFill>
            <a:srgbClr val="0C1220"/>
          </a:solidFill>
          <a:ln w="12700">
            <a:solidFill>
              <a:srgbClr val="FFB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4" name="Shape 312"/>
          <p:cNvSpPr/>
          <p:nvPr/>
        </p:nvSpPr>
        <p:spPr>
          <a:xfrm>
            <a:off x="3233928" y="4069080"/>
            <a:ext cx="45720" cy="713232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315" name="Text 313"/>
          <p:cNvSpPr/>
          <p:nvPr/>
        </p:nvSpPr>
        <p:spPr>
          <a:xfrm>
            <a:off x="3361944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16" name="Text 314"/>
          <p:cNvSpPr/>
          <p:nvPr/>
        </p:nvSpPr>
        <p:spPr>
          <a:xfrm>
            <a:off x="3782568" y="4160520"/>
            <a:ext cx="2100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Redis</a:t>
            </a:r>
            <a:endParaRPr lang="en-US" sz="1100" dirty="0"/>
          </a:p>
        </p:txBody>
      </p:sp>
      <p:sp>
        <p:nvSpPr>
          <p:cNvPr id="317" name="Text 315"/>
          <p:cNvSpPr/>
          <p:nvPr/>
        </p:nvSpPr>
        <p:spPr>
          <a:xfrm>
            <a:off x="3782568" y="4453128"/>
            <a:ext cx="2100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Token Quotas · Cache</a:t>
            </a:r>
            <a:endParaRPr lang="en-US" sz="900" dirty="0"/>
          </a:p>
        </p:txBody>
      </p:sp>
      <p:sp>
        <p:nvSpPr>
          <p:cNvPr id="318" name="Shape 316"/>
          <p:cNvSpPr/>
          <p:nvPr/>
        </p:nvSpPr>
        <p:spPr>
          <a:xfrm>
            <a:off x="6102096" y="4069080"/>
            <a:ext cx="2740152" cy="713232"/>
          </a:xfrm>
          <a:prstGeom prst="rect">
            <a:avLst/>
          </a:prstGeom>
          <a:solidFill>
            <a:srgbClr val="0C1220"/>
          </a:solidFill>
          <a:ln w="12700">
            <a:solidFill>
              <a:srgbClr val="9D6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9" name="Shape 317"/>
          <p:cNvSpPr/>
          <p:nvPr/>
        </p:nvSpPr>
        <p:spPr>
          <a:xfrm>
            <a:off x="6102096" y="4069080"/>
            <a:ext cx="45720" cy="713232"/>
          </a:xfrm>
          <a:prstGeom prst="rect">
            <a:avLst/>
          </a:prstGeom>
          <a:solidFill>
            <a:srgbClr val="9D6FFF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6230112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21" name="Text 319"/>
          <p:cNvSpPr/>
          <p:nvPr/>
        </p:nvSpPr>
        <p:spPr>
          <a:xfrm>
            <a:off x="6650736" y="4160520"/>
            <a:ext cx="2100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LLM (Switchable)</a:t>
            </a:r>
            <a:endParaRPr lang="en-US" sz="1100" dirty="0"/>
          </a:p>
        </p:txBody>
      </p:sp>
      <p:sp>
        <p:nvSpPr>
          <p:cNvPr id="322" name="Text 320"/>
          <p:cNvSpPr/>
          <p:nvPr/>
        </p:nvSpPr>
        <p:spPr>
          <a:xfrm>
            <a:off x="6650736" y="4453128"/>
            <a:ext cx="2100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Claude / OpenAI / Gemini / Ollama</a:t>
            </a:r>
            <a:endParaRPr lang="en-US" sz="900" dirty="0"/>
          </a:p>
        </p:txBody>
      </p:sp>
      <p:sp>
        <p:nvSpPr>
          <p:cNvPr id="323" name="Text 321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782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1673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1673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1673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1673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1673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1673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1673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1673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1673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1673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1673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1673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5564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5564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5564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5564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5564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5564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5564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5564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75564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5564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5564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5564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9456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9456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9456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9456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9456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9456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9456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9456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9456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9456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19456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9456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3347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3347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3347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63347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3347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3347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63347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3347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63347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63347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63347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63347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07238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07238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07238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7238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07238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07238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7238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7238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07238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07238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07238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07238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51129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51129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51129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51129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51129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1129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1129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1129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1129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51129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1129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51129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95020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95020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95020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95020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95020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95020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95020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95020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95020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5020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95020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5020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38912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38912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38912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38912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38912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8912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2803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2803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2803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2803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2803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2803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2803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2803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2803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82803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82803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82803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26694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6694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26694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26694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26694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26694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26694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26694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26694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26694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26694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26694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70585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70585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70585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70585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70585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70585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70585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70585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70585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70585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70585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70585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14476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14476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14476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14476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14476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14476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14476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14476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14476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14476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14476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14476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58368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58368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58368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58368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58368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58368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58368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58368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58368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58368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58368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58368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02259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02259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02259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02259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02259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02259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2259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2259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02259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02259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02259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02259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6150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6150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6150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6150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6150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6150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46150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46150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46150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46150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46150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46150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041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041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041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041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041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041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041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041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90041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90041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90041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90041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33932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33932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33932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33932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33932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33932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33932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33932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33932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33932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33932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33932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77824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77824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77824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77824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77824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77824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77824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77824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77824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77824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77824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77824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50292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9D6FFF"/>
                </a:solidFill>
              </a:rPr>
              <a:t>LANGCHAIN</a:t>
            </a:r>
            <a:endParaRPr lang="en-US" sz="800" dirty="0"/>
          </a:p>
        </p:txBody>
      </p:sp>
      <p:sp>
        <p:nvSpPr>
          <p:cNvPr id="255" name="Text 253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RAG Pipeline</a:t>
            </a:r>
            <a:endParaRPr lang="en-US" sz="3200" dirty="0"/>
          </a:p>
        </p:txBody>
      </p:sp>
      <p:sp>
        <p:nvSpPr>
          <p:cNvPr id="256" name="Text 254"/>
          <p:cNvSpPr/>
          <p:nvPr/>
        </p:nvSpPr>
        <p:spPr>
          <a:xfrm>
            <a:off x="502920" y="111556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LCEL chain — composable, streamable, provider-agnostic</a:t>
            </a:r>
            <a:endParaRPr lang="en-US" sz="1200" dirty="0"/>
          </a:p>
        </p:txBody>
      </p:sp>
      <p:sp>
        <p:nvSpPr>
          <p:cNvPr id="257" name="Shape 255"/>
          <p:cNvSpPr/>
          <p:nvPr/>
        </p:nvSpPr>
        <p:spPr>
          <a:xfrm>
            <a:off x="411480" y="1417320"/>
            <a:ext cx="1234440" cy="1463040"/>
          </a:xfrm>
          <a:prstGeom prst="rect">
            <a:avLst/>
          </a:prstGeom>
          <a:solidFill>
            <a:srgbClr val="0C1220"/>
          </a:solidFill>
          <a:ln w="12700">
            <a:solidFill>
              <a:srgbClr val="9D6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8" name="Shape 256"/>
          <p:cNvSpPr/>
          <p:nvPr/>
        </p:nvSpPr>
        <p:spPr>
          <a:xfrm>
            <a:off x="411480" y="1417320"/>
            <a:ext cx="1234440" cy="27432"/>
          </a:xfrm>
          <a:prstGeom prst="rect">
            <a:avLst/>
          </a:prstGeom>
          <a:solidFill>
            <a:srgbClr val="9D6FFF">
              <a:alpha val="70000"/>
            </a:srgbClr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411480" y="14813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9D6FFF"/>
                </a:solidFill>
              </a:rPr>
              <a:t>01</a:t>
            </a:r>
            <a:endParaRPr lang="en-US" sz="800" dirty="0"/>
          </a:p>
        </p:txBody>
      </p:sp>
      <p:sp>
        <p:nvSpPr>
          <p:cNvPr id="260" name="Text 258"/>
          <p:cNvSpPr/>
          <p:nvPr/>
        </p:nvSpPr>
        <p:spPr>
          <a:xfrm>
            <a:off x="411480" y="171907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61" name="Text 259"/>
          <p:cNvSpPr/>
          <p:nvPr/>
        </p:nvSpPr>
        <p:spPr>
          <a:xfrm>
            <a:off x="475488" y="2148840"/>
            <a:ext cx="1106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6FF"/>
                </a:solidFill>
              </a:rPr>
              <a:t>User Query</a:t>
            </a:r>
            <a:endParaRPr lang="en-US" sz="1050" dirty="0"/>
          </a:p>
        </p:txBody>
      </p:sp>
      <p:sp>
        <p:nvSpPr>
          <p:cNvPr id="262" name="Text 260"/>
          <p:cNvSpPr/>
          <p:nvPr/>
        </p:nvSpPr>
        <p:spPr>
          <a:xfrm>
            <a:off x="457200" y="24871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sanitized input</a:t>
            </a:r>
            <a:endParaRPr lang="en-US" sz="850" dirty="0"/>
          </a:p>
        </p:txBody>
      </p:sp>
      <p:sp>
        <p:nvSpPr>
          <p:cNvPr id="263" name="Shape 261"/>
          <p:cNvSpPr/>
          <p:nvPr/>
        </p:nvSpPr>
        <p:spPr>
          <a:xfrm>
            <a:off x="1645920" y="2084832"/>
            <a:ext cx="50292" cy="50292"/>
          </a:xfrm>
          <a:prstGeom prst="ellipse">
            <a:avLst/>
          </a:prstGeom>
          <a:solidFill>
            <a:srgbClr val="9D6FFF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696212" y="2084832"/>
            <a:ext cx="50292" cy="50292"/>
          </a:xfrm>
          <a:prstGeom prst="ellipse">
            <a:avLst/>
          </a:prstGeom>
          <a:solidFill>
            <a:srgbClr val="9D6FFF">
              <a:alpha val="78000"/>
            </a:srgbClr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746504" y="2084832"/>
            <a:ext cx="50292" cy="50292"/>
          </a:xfrm>
          <a:prstGeom prst="ellipse">
            <a:avLst/>
          </a:prstGeom>
          <a:solidFill>
            <a:srgbClr val="9D6FFF">
              <a:alpha val="56000"/>
            </a:srgbClr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828800" y="1417320"/>
            <a:ext cx="1234440" cy="1463040"/>
          </a:xfrm>
          <a:prstGeom prst="rect">
            <a:avLst/>
          </a:prstGeom>
          <a:solidFill>
            <a:srgbClr val="0C1220"/>
          </a:solidFill>
          <a:ln w="12700">
            <a:solidFill>
              <a:srgbClr val="9D6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7" name="Shape 265"/>
          <p:cNvSpPr/>
          <p:nvPr/>
        </p:nvSpPr>
        <p:spPr>
          <a:xfrm>
            <a:off x="1828800" y="1417320"/>
            <a:ext cx="1234440" cy="27432"/>
          </a:xfrm>
          <a:prstGeom prst="rect">
            <a:avLst/>
          </a:prstGeom>
          <a:solidFill>
            <a:srgbClr val="9D6FFF">
              <a:alpha val="70000"/>
            </a:srgbClr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1828800" y="14813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9D6FFF"/>
                </a:solidFill>
              </a:rPr>
              <a:t>02</a:t>
            </a:r>
            <a:endParaRPr lang="en-US" sz="800" dirty="0"/>
          </a:p>
        </p:txBody>
      </p:sp>
      <p:sp>
        <p:nvSpPr>
          <p:cNvPr id="269" name="Text 267"/>
          <p:cNvSpPr/>
          <p:nvPr/>
        </p:nvSpPr>
        <p:spPr>
          <a:xfrm>
            <a:off x="1828800" y="171907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270" name="Text 268"/>
          <p:cNvSpPr/>
          <p:nvPr/>
        </p:nvSpPr>
        <p:spPr>
          <a:xfrm>
            <a:off x="1892808" y="2148840"/>
            <a:ext cx="1106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6FF"/>
                </a:solidFill>
              </a:rPr>
              <a:t>Embeddings</a:t>
            </a:r>
            <a:endParaRPr lang="en-US" sz="1050" dirty="0"/>
          </a:p>
        </p:txBody>
      </p:sp>
      <p:sp>
        <p:nvSpPr>
          <p:cNvPr id="271" name="Text 269"/>
          <p:cNvSpPr/>
          <p:nvPr/>
        </p:nvSpPr>
        <p:spPr>
          <a:xfrm>
            <a:off x="1874520" y="24871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OpenAI / Gemini</a:t>
            </a:r>
            <a:endParaRPr lang="en-US" sz="850" dirty="0"/>
          </a:p>
        </p:txBody>
      </p:sp>
      <p:sp>
        <p:nvSpPr>
          <p:cNvPr id="272" name="Shape 270"/>
          <p:cNvSpPr/>
          <p:nvPr/>
        </p:nvSpPr>
        <p:spPr>
          <a:xfrm>
            <a:off x="3063240" y="2084832"/>
            <a:ext cx="50292" cy="50292"/>
          </a:xfrm>
          <a:prstGeom prst="ellipse">
            <a:avLst/>
          </a:prstGeom>
          <a:solidFill>
            <a:srgbClr val="9D6FFF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3113532" y="2084832"/>
            <a:ext cx="50292" cy="50292"/>
          </a:xfrm>
          <a:prstGeom prst="ellipse">
            <a:avLst/>
          </a:prstGeom>
          <a:solidFill>
            <a:srgbClr val="9D6FFF">
              <a:alpha val="78000"/>
            </a:srgbClr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3163824" y="2084832"/>
            <a:ext cx="50292" cy="50292"/>
          </a:xfrm>
          <a:prstGeom prst="ellipse">
            <a:avLst/>
          </a:prstGeom>
          <a:solidFill>
            <a:srgbClr val="9D6FFF">
              <a:alpha val="56000"/>
            </a:srgbClr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3246120" y="1417320"/>
            <a:ext cx="1234440" cy="1463040"/>
          </a:xfrm>
          <a:prstGeom prst="rect">
            <a:avLst/>
          </a:prstGeom>
          <a:solidFill>
            <a:srgbClr val="0C1220"/>
          </a:solidFill>
          <a:ln w="12700">
            <a:solidFill>
              <a:srgbClr val="9D6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6" name="Shape 274"/>
          <p:cNvSpPr/>
          <p:nvPr/>
        </p:nvSpPr>
        <p:spPr>
          <a:xfrm>
            <a:off x="3246120" y="1417320"/>
            <a:ext cx="1234440" cy="27432"/>
          </a:xfrm>
          <a:prstGeom prst="rect">
            <a:avLst/>
          </a:prstGeom>
          <a:solidFill>
            <a:srgbClr val="9D6FFF">
              <a:alpha val="70000"/>
            </a:srgbClr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3246120" y="14813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9D6FFF"/>
                </a:solidFill>
              </a:rPr>
              <a:t>03</a:t>
            </a:r>
            <a:endParaRPr lang="en-US" sz="800" dirty="0"/>
          </a:p>
        </p:txBody>
      </p:sp>
      <p:sp>
        <p:nvSpPr>
          <p:cNvPr id="278" name="Text 276"/>
          <p:cNvSpPr/>
          <p:nvPr/>
        </p:nvSpPr>
        <p:spPr>
          <a:xfrm>
            <a:off x="3246120" y="171907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</a:t>
            </a:r>
            <a:endParaRPr lang="en-US" sz="2200" dirty="0"/>
          </a:p>
        </p:txBody>
      </p:sp>
      <p:sp>
        <p:nvSpPr>
          <p:cNvPr id="279" name="Text 277"/>
          <p:cNvSpPr/>
          <p:nvPr/>
        </p:nvSpPr>
        <p:spPr>
          <a:xfrm>
            <a:off x="3310128" y="2148840"/>
            <a:ext cx="1106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6FF"/>
                </a:solidFill>
              </a:rPr>
              <a:t>pgvector</a:t>
            </a:r>
            <a:endParaRPr lang="en-US" sz="1050" dirty="0"/>
          </a:p>
        </p:txBody>
      </p:sp>
      <p:sp>
        <p:nvSpPr>
          <p:cNvPr id="280" name="Text 278"/>
          <p:cNvSpPr/>
          <p:nvPr/>
        </p:nvSpPr>
        <p:spPr>
          <a:xfrm>
            <a:off x="3291840" y="24871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top-5 chunks</a:t>
            </a:r>
            <a:endParaRPr lang="en-US" sz="850" dirty="0"/>
          </a:p>
        </p:txBody>
      </p:sp>
      <p:sp>
        <p:nvSpPr>
          <p:cNvPr id="281" name="Shape 279"/>
          <p:cNvSpPr/>
          <p:nvPr/>
        </p:nvSpPr>
        <p:spPr>
          <a:xfrm>
            <a:off x="4480560" y="2084832"/>
            <a:ext cx="50292" cy="50292"/>
          </a:xfrm>
          <a:prstGeom prst="ellipse">
            <a:avLst/>
          </a:prstGeom>
          <a:solidFill>
            <a:srgbClr val="9D6FFF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4530852" y="2084832"/>
            <a:ext cx="50292" cy="50292"/>
          </a:xfrm>
          <a:prstGeom prst="ellipse">
            <a:avLst/>
          </a:prstGeom>
          <a:solidFill>
            <a:srgbClr val="9D6FFF">
              <a:alpha val="78000"/>
            </a:srgbClr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4581144" y="2084832"/>
            <a:ext cx="50292" cy="50292"/>
          </a:xfrm>
          <a:prstGeom prst="ellipse">
            <a:avLst/>
          </a:prstGeom>
          <a:solidFill>
            <a:srgbClr val="9D6FFF">
              <a:alpha val="56000"/>
            </a:srgbClr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4663440" y="1417320"/>
            <a:ext cx="1234440" cy="1463040"/>
          </a:xfrm>
          <a:prstGeom prst="rect">
            <a:avLst/>
          </a:prstGeom>
          <a:solidFill>
            <a:srgbClr val="0C1220"/>
          </a:solidFill>
          <a:ln w="12700">
            <a:solidFill>
              <a:srgbClr val="9D6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5" name="Shape 283"/>
          <p:cNvSpPr/>
          <p:nvPr/>
        </p:nvSpPr>
        <p:spPr>
          <a:xfrm>
            <a:off x="4663440" y="1417320"/>
            <a:ext cx="1234440" cy="27432"/>
          </a:xfrm>
          <a:prstGeom prst="rect">
            <a:avLst/>
          </a:prstGeom>
          <a:solidFill>
            <a:srgbClr val="9D6FFF">
              <a:alpha val="70000"/>
            </a:srgbClr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4663440" y="14813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9D6FFF"/>
                </a:solidFill>
              </a:rPr>
              <a:t>04</a:t>
            </a:r>
            <a:endParaRPr lang="en-US" sz="800" dirty="0"/>
          </a:p>
        </p:txBody>
      </p:sp>
      <p:sp>
        <p:nvSpPr>
          <p:cNvPr id="287" name="Text 285"/>
          <p:cNvSpPr/>
          <p:nvPr/>
        </p:nvSpPr>
        <p:spPr>
          <a:xfrm>
            <a:off x="4663440" y="171907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88" name="Text 286"/>
          <p:cNvSpPr/>
          <p:nvPr/>
        </p:nvSpPr>
        <p:spPr>
          <a:xfrm>
            <a:off x="4727448" y="2148840"/>
            <a:ext cx="1106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6FF"/>
                </a:solidFill>
              </a:rPr>
              <a:t>Prompt Build</a:t>
            </a:r>
            <a:endParaRPr lang="en-US" sz="1050" dirty="0"/>
          </a:p>
        </p:txBody>
      </p:sp>
      <p:sp>
        <p:nvSpPr>
          <p:cNvPr id="289" name="Text 287"/>
          <p:cNvSpPr/>
          <p:nvPr/>
        </p:nvSpPr>
        <p:spPr>
          <a:xfrm>
            <a:off x="4709160" y="24871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system+context+history</a:t>
            </a:r>
            <a:endParaRPr lang="en-US" sz="850" dirty="0"/>
          </a:p>
        </p:txBody>
      </p:sp>
      <p:sp>
        <p:nvSpPr>
          <p:cNvPr id="290" name="Shape 288"/>
          <p:cNvSpPr/>
          <p:nvPr/>
        </p:nvSpPr>
        <p:spPr>
          <a:xfrm>
            <a:off x="5897880" y="2084832"/>
            <a:ext cx="50292" cy="50292"/>
          </a:xfrm>
          <a:prstGeom prst="ellipse">
            <a:avLst/>
          </a:prstGeom>
          <a:solidFill>
            <a:srgbClr val="9D6FFF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5948172" y="2084832"/>
            <a:ext cx="50292" cy="50292"/>
          </a:xfrm>
          <a:prstGeom prst="ellipse">
            <a:avLst/>
          </a:prstGeom>
          <a:solidFill>
            <a:srgbClr val="9D6FFF">
              <a:alpha val="78000"/>
            </a:srgbClr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5998464" y="2084832"/>
            <a:ext cx="50292" cy="50292"/>
          </a:xfrm>
          <a:prstGeom prst="ellipse">
            <a:avLst/>
          </a:prstGeom>
          <a:solidFill>
            <a:srgbClr val="9D6FFF">
              <a:alpha val="56000"/>
            </a:srgbClr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6080760" y="1417320"/>
            <a:ext cx="1234440" cy="1463040"/>
          </a:xfrm>
          <a:prstGeom prst="rect">
            <a:avLst/>
          </a:prstGeom>
          <a:solidFill>
            <a:srgbClr val="0C1220"/>
          </a:solidFill>
          <a:ln w="12700">
            <a:solidFill>
              <a:srgbClr val="9D6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4" name="Shape 292"/>
          <p:cNvSpPr/>
          <p:nvPr/>
        </p:nvSpPr>
        <p:spPr>
          <a:xfrm>
            <a:off x="6080760" y="1417320"/>
            <a:ext cx="1234440" cy="27432"/>
          </a:xfrm>
          <a:prstGeom prst="rect">
            <a:avLst/>
          </a:prstGeom>
          <a:solidFill>
            <a:srgbClr val="9D6FFF">
              <a:alpha val="70000"/>
            </a:srgbClr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6080760" y="14813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9D6FFF"/>
                </a:solidFill>
              </a:rPr>
              <a:t>05</a:t>
            </a:r>
            <a:endParaRPr lang="en-US" sz="800" dirty="0"/>
          </a:p>
        </p:txBody>
      </p:sp>
      <p:sp>
        <p:nvSpPr>
          <p:cNvPr id="296" name="Text 294"/>
          <p:cNvSpPr/>
          <p:nvPr/>
        </p:nvSpPr>
        <p:spPr>
          <a:xfrm>
            <a:off x="6080760" y="171907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97" name="Text 295"/>
          <p:cNvSpPr/>
          <p:nvPr/>
        </p:nvSpPr>
        <p:spPr>
          <a:xfrm>
            <a:off x="6144768" y="2148840"/>
            <a:ext cx="1106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6FF"/>
                </a:solidFill>
              </a:rPr>
              <a:t>LLM Call</a:t>
            </a:r>
            <a:endParaRPr lang="en-US" sz="1050" dirty="0"/>
          </a:p>
        </p:txBody>
      </p:sp>
      <p:sp>
        <p:nvSpPr>
          <p:cNvPr id="298" name="Text 296"/>
          <p:cNvSpPr/>
          <p:nvPr/>
        </p:nvSpPr>
        <p:spPr>
          <a:xfrm>
            <a:off x="6126480" y="24871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active model</a:t>
            </a:r>
            <a:endParaRPr lang="en-US" sz="850" dirty="0"/>
          </a:p>
        </p:txBody>
      </p:sp>
      <p:sp>
        <p:nvSpPr>
          <p:cNvPr id="299" name="Shape 297"/>
          <p:cNvSpPr/>
          <p:nvPr/>
        </p:nvSpPr>
        <p:spPr>
          <a:xfrm>
            <a:off x="7315200" y="2084832"/>
            <a:ext cx="50292" cy="50292"/>
          </a:xfrm>
          <a:prstGeom prst="ellipse">
            <a:avLst/>
          </a:prstGeom>
          <a:solidFill>
            <a:srgbClr val="9D6FFF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7365492" y="2084832"/>
            <a:ext cx="50292" cy="50292"/>
          </a:xfrm>
          <a:prstGeom prst="ellipse">
            <a:avLst/>
          </a:prstGeom>
          <a:solidFill>
            <a:srgbClr val="9D6FFF">
              <a:alpha val="78000"/>
            </a:srgbClr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7415784" y="2084832"/>
            <a:ext cx="50292" cy="50292"/>
          </a:xfrm>
          <a:prstGeom prst="ellipse">
            <a:avLst/>
          </a:prstGeom>
          <a:solidFill>
            <a:srgbClr val="9D6FFF">
              <a:alpha val="56000"/>
            </a:srgbClr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7498080" y="1417320"/>
            <a:ext cx="1234440" cy="1463040"/>
          </a:xfrm>
          <a:prstGeom prst="rect">
            <a:avLst/>
          </a:prstGeom>
          <a:solidFill>
            <a:srgbClr val="0C1220"/>
          </a:solidFill>
          <a:ln w="12700">
            <a:solidFill>
              <a:srgbClr val="9D6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3" name="Shape 301"/>
          <p:cNvSpPr/>
          <p:nvPr/>
        </p:nvSpPr>
        <p:spPr>
          <a:xfrm>
            <a:off x="7498080" y="1417320"/>
            <a:ext cx="1234440" cy="27432"/>
          </a:xfrm>
          <a:prstGeom prst="rect">
            <a:avLst/>
          </a:prstGeom>
          <a:solidFill>
            <a:srgbClr val="9D6FFF">
              <a:alpha val="70000"/>
            </a:srgbClr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304" name="Text 302"/>
          <p:cNvSpPr/>
          <p:nvPr/>
        </p:nvSpPr>
        <p:spPr>
          <a:xfrm>
            <a:off x="7498080" y="14813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9D6FFF"/>
                </a:solidFill>
              </a:rPr>
              <a:t>06</a:t>
            </a:r>
            <a:endParaRPr lang="en-US" sz="800" dirty="0"/>
          </a:p>
        </p:txBody>
      </p:sp>
      <p:sp>
        <p:nvSpPr>
          <p:cNvPr id="305" name="Text 303"/>
          <p:cNvSpPr/>
          <p:nvPr/>
        </p:nvSpPr>
        <p:spPr>
          <a:xfrm>
            <a:off x="7498080" y="171907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306" name="Text 304"/>
          <p:cNvSpPr/>
          <p:nvPr/>
        </p:nvSpPr>
        <p:spPr>
          <a:xfrm>
            <a:off x="7562088" y="2148840"/>
            <a:ext cx="1106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6FF"/>
                </a:solidFill>
              </a:rPr>
              <a:t>Stream</a:t>
            </a:r>
            <a:endParaRPr lang="en-US" sz="1050" dirty="0"/>
          </a:p>
        </p:txBody>
      </p:sp>
      <p:sp>
        <p:nvSpPr>
          <p:cNvPr id="307" name="Text 305"/>
          <p:cNvSpPr/>
          <p:nvPr/>
        </p:nvSpPr>
        <p:spPr>
          <a:xfrm>
            <a:off x="7543800" y="24871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SSE to browser</a:t>
            </a:r>
            <a:endParaRPr lang="en-US" sz="850" dirty="0"/>
          </a:p>
        </p:txBody>
      </p:sp>
      <p:sp>
        <p:nvSpPr>
          <p:cNvPr id="308" name="Shape 306"/>
          <p:cNvSpPr/>
          <p:nvPr/>
        </p:nvSpPr>
        <p:spPr>
          <a:xfrm>
            <a:off x="365760" y="3090672"/>
            <a:ext cx="8412480" cy="1783080"/>
          </a:xfrm>
          <a:prstGeom prst="rect">
            <a:avLst/>
          </a:prstGeom>
          <a:solidFill>
            <a:srgbClr val="0C1220"/>
          </a:solidFill>
          <a:ln w="12700">
            <a:solidFill>
              <a:srgbClr val="1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9" name="Text 307"/>
          <p:cNvSpPr/>
          <p:nvPr/>
        </p:nvSpPr>
        <p:spPr>
          <a:xfrm>
            <a:off x="640080" y="3200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</a:rPr>
              <a:t>// LCEL — entire RAG pipeline in 5 lines</a:t>
            </a:r>
            <a:endParaRPr lang="en-US" sz="950" dirty="0"/>
          </a:p>
        </p:txBody>
      </p:sp>
      <p:sp>
        <p:nvSpPr>
          <p:cNvPr id="310" name="Text 308"/>
          <p:cNvSpPr/>
          <p:nvPr/>
        </p:nvSpPr>
        <p:spPr>
          <a:xfrm>
            <a:off x="640080" y="3493008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00" dirty="0">
                <a:solidFill>
                  <a:srgbClr val="C8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 = RunnableSequence.</a:t>
            </a:r>
            <a:pPr indent="0" marL="0">
              <a:buNone/>
            </a:pPr>
            <a:r>
              <a:rPr lang="en-US" sz="1100" dirty="0">
                <a:solidFill>
                  <a:srgbClr val="FF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C8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context: retriever | formatDocs,  question,  chat_history },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mustIQPrompt,       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dept-specific template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F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createLLM</a:t>
            </a:r>
            <a:pPr indent="0" marL="0">
              <a:buNone/>
            </a:pPr>
            <a:r>
              <a:rPr lang="en-US" sz="1100" dirty="0">
                <a:solidFill>
                  <a:srgbClr val="C8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    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reads active provider from DB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9D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StringOutputParser</a:t>
            </a:r>
            <a:pPr indent="0" marL="0">
              <a:buNone/>
            </a:pPr>
            <a:r>
              <a:rPr lang="en-US" sz="1100" dirty="0">
                <a:solidFill>
                  <a:srgbClr val="C8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100" dirty="0"/>
          </a:p>
        </p:txBody>
      </p:sp>
      <p:sp>
        <p:nvSpPr>
          <p:cNvPr id="311" name="Text 309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782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1673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1673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1673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1673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1673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1673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1673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1673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1673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1673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1673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1673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5564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5564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5564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5564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5564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5564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5564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5564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75564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5564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5564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5564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9456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9456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9456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9456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9456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9456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9456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9456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9456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9456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19456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9456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3347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3347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3347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63347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3347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3347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63347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3347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63347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63347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63347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63347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07238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07238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07238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7238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07238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07238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7238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7238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07238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07238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07238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07238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51129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51129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51129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51129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51129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1129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1129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1129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1129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51129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1129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51129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95020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95020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95020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95020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95020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95020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95020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95020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95020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5020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95020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5020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38912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38912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38912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38912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38912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8912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2803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2803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2803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2803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2803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2803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2803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2803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2803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82803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82803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82803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26694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6694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26694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26694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26694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26694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26694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26694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26694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26694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26694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26694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70585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70585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70585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70585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70585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70585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70585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70585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70585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70585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70585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70585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14476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14476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14476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14476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14476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14476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14476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14476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14476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14476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14476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14476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58368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58368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58368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58368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58368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58368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58368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58368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58368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58368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58368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58368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02259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02259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02259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02259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02259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02259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2259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2259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02259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02259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02259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02259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6150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6150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6150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6150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6150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6150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46150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46150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46150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46150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46150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46150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041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041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041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041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041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041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041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041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90041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90041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90041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90041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33932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33932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33932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33932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33932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33932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33932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33932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33932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33932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33932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33932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77824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77824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77824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77824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77824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77824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77824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77824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77824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77824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77824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77824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50292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B740"/>
                </a:solidFill>
              </a:rPr>
              <a:t>LLM SETTINGS</a:t>
            </a:r>
            <a:endParaRPr lang="en-US" sz="800" dirty="0"/>
          </a:p>
        </p:txBody>
      </p:sp>
      <p:sp>
        <p:nvSpPr>
          <p:cNvPr id="255" name="Text 253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Switch Model from Admin UI</a:t>
            </a:r>
            <a:endParaRPr lang="en-US" sz="3200" dirty="0"/>
          </a:p>
        </p:txBody>
      </p:sp>
      <p:sp>
        <p:nvSpPr>
          <p:cNvPr id="256" name="Text 254"/>
          <p:cNvSpPr/>
          <p:nvPr/>
        </p:nvSpPr>
        <p:spPr>
          <a:xfrm>
            <a:off x="502920" y="111556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No code changes. No restarts. One API call.</a:t>
            </a:r>
            <a:endParaRPr lang="en-US" sz="1200" dirty="0"/>
          </a:p>
        </p:txBody>
      </p:sp>
      <p:sp>
        <p:nvSpPr>
          <p:cNvPr id="257" name="Shape 255"/>
          <p:cNvSpPr/>
          <p:nvPr/>
        </p:nvSpPr>
        <p:spPr>
          <a:xfrm>
            <a:off x="365760" y="1417320"/>
            <a:ext cx="4023360" cy="3520440"/>
          </a:xfrm>
          <a:prstGeom prst="rect">
            <a:avLst/>
          </a:prstGeom>
          <a:solidFill>
            <a:srgbClr val="0C1220"/>
          </a:solidFill>
          <a:ln w="12700">
            <a:solidFill>
              <a:srgbClr val="1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8" name="Text 256"/>
          <p:cNvSpPr/>
          <p:nvPr/>
        </p:nvSpPr>
        <p:spPr>
          <a:xfrm>
            <a:off x="594360" y="15544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</a:rPr>
              <a:t>⚙️  Active Configuration</a:t>
            </a:r>
            <a:endParaRPr lang="en-US" sz="1300" dirty="0"/>
          </a:p>
        </p:txBody>
      </p:sp>
      <p:sp>
        <p:nvSpPr>
          <p:cNvPr id="259" name="Text 257"/>
          <p:cNvSpPr/>
          <p:nvPr/>
        </p:nvSpPr>
        <p:spPr>
          <a:xfrm>
            <a:off x="594360" y="19933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provider</a:t>
            </a:r>
            <a:endParaRPr lang="en-US" sz="1000" dirty="0"/>
          </a:p>
        </p:txBody>
      </p:sp>
      <p:sp>
        <p:nvSpPr>
          <p:cNvPr id="260" name="Shape 258"/>
          <p:cNvSpPr/>
          <p:nvPr/>
        </p:nvSpPr>
        <p:spPr>
          <a:xfrm>
            <a:off x="2194560" y="2020824"/>
            <a:ext cx="845820" cy="237744"/>
          </a:xfrm>
          <a:prstGeom prst="roundRect">
            <a:avLst>
              <a:gd name="adj" fmla="val 30769"/>
            </a:avLst>
          </a:prstGeom>
          <a:solidFill>
            <a:srgbClr val="04060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2194560" y="2020824"/>
            <a:ext cx="845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anthropic</a:t>
            </a:r>
            <a:endParaRPr lang="en-US" sz="900" dirty="0"/>
          </a:p>
        </p:txBody>
      </p:sp>
      <p:sp>
        <p:nvSpPr>
          <p:cNvPr id="262" name="Shape 260"/>
          <p:cNvSpPr/>
          <p:nvPr/>
        </p:nvSpPr>
        <p:spPr>
          <a:xfrm>
            <a:off x="594360" y="2359152"/>
            <a:ext cx="3566160" cy="13716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594360" y="243230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model</a:t>
            </a:r>
            <a:endParaRPr lang="en-US" sz="1000" dirty="0"/>
          </a:p>
        </p:txBody>
      </p:sp>
      <p:sp>
        <p:nvSpPr>
          <p:cNvPr id="264" name="Shape 262"/>
          <p:cNvSpPr/>
          <p:nvPr/>
        </p:nvSpPr>
        <p:spPr>
          <a:xfrm>
            <a:off x="2194560" y="2459736"/>
            <a:ext cx="1394460" cy="237744"/>
          </a:xfrm>
          <a:prstGeom prst="roundRect">
            <a:avLst>
              <a:gd name="adj" fmla="val 30769"/>
            </a:avLst>
          </a:prstGeom>
          <a:solidFill>
            <a:srgbClr val="04060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2194560" y="2459736"/>
            <a:ext cx="13944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claude-sonnet-4-6</a:t>
            </a:r>
            <a:endParaRPr lang="en-US" sz="900" dirty="0"/>
          </a:p>
        </p:txBody>
      </p:sp>
      <p:sp>
        <p:nvSpPr>
          <p:cNvPr id="266" name="Shape 264"/>
          <p:cNvSpPr/>
          <p:nvPr/>
        </p:nvSpPr>
        <p:spPr>
          <a:xfrm>
            <a:off x="594360" y="2798064"/>
            <a:ext cx="3566160" cy="13716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594360" y="287121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temperature</a:t>
            </a:r>
            <a:endParaRPr lang="en-US" sz="1000" dirty="0"/>
          </a:p>
        </p:txBody>
      </p:sp>
      <p:sp>
        <p:nvSpPr>
          <p:cNvPr id="268" name="Shape 266"/>
          <p:cNvSpPr/>
          <p:nvPr/>
        </p:nvSpPr>
        <p:spPr>
          <a:xfrm>
            <a:off x="2194560" y="2898648"/>
            <a:ext cx="434340" cy="237744"/>
          </a:xfrm>
          <a:prstGeom prst="roundRect">
            <a:avLst>
              <a:gd name="adj" fmla="val 30769"/>
            </a:avLst>
          </a:prstGeom>
          <a:solidFill>
            <a:srgbClr val="04060D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2194560" y="2898648"/>
            <a:ext cx="4343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740"/>
                </a:solidFill>
              </a:rPr>
              <a:t>0.3</a:t>
            </a:r>
            <a:endParaRPr lang="en-US" sz="900" dirty="0"/>
          </a:p>
        </p:txBody>
      </p:sp>
      <p:sp>
        <p:nvSpPr>
          <p:cNvPr id="270" name="Shape 268"/>
          <p:cNvSpPr/>
          <p:nvPr/>
        </p:nvSpPr>
        <p:spPr>
          <a:xfrm>
            <a:off x="594360" y="3236976"/>
            <a:ext cx="3566160" cy="13716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594360" y="331012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max_tokens</a:t>
            </a:r>
            <a:endParaRPr lang="en-US" sz="1000" dirty="0"/>
          </a:p>
        </p:txBody>
      </p:sp>
      <p:sp>
        <p:nvSpPr>
          <p:cNvPr id="272" name="Shape 270"/>
          <p:cNvSpPr/>
          <p:nvPr/>
        </p:nvSpPr>
        <p:spPr>
          <a:xfrm>
            <a:off x="2194560" y="3337560"/>
            <a:ext cx="502920" cy="237744"/>
          </a:xfrm>
          <a:prstGeom prst="roundRect">
            <a:avLst>
              <a:gd name="adj" fmla="val 30769"/>
            </a:avLst>
          </a:prstGeom>
          <a:solidFill>
            <a:srgbClr val="04060D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2194560" y="333756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740"/>
                </a:solidFill>
              </a:rPr>
              <a:t>2048</a:t>
            </a:r>
            <a:endParaRPr lang="en-US" sz="900" dirty="0"/>
          </a:p>
        </p:txBody>
      </p:sp>
      <p:sp>
        <p:nvSpPr>
          <p:cNvPr id="274" name="Shape 272"/>
          <p:cNvSpPr/>
          <p:nvPr/>
        </p:nvSpPr>
        <p:spPr>
          <a:xfrm>
            <a:off x="594360" y="3675888"/>
            <a:ext cx="3566160" cy="13716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594360" y="3749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embedding</a:t>
            </a:r>
            <a:endParaRPr lang="en-US" sz="1000" dirty="0"/>
          </a:p>
        </p:txBody>
      </p:sp>
      <p:sp>
        <p:nvSpPr>
          <p:cNvPr id="276" name="Shape 274"/>
          <p:cNvSpPr/>
          <p:nvPr/>
        </p:nvSpPr>
        <p:spPr>
          <a:xfrm>
            <a:off x="2194560" y="3776472"/>
            <a:ext cx="1737360" cy="237744"/>
          </a:xfrm>
          <a:prstGeom prst="roundRect">
            <a:avLst>
              <a:gd name="adj" fmla="val 30769"/>
            </a:avLst>
          </a:prstGeom>
          <a:solidFill>
            <a:srgbClr val="04060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2194560" y="37764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9D"/>
                </a:solidFill>
              </a:rPr>
              <a:t>text-embedding-3-small</a:t>
            </a:r>
            <a:endParaRPr lang="en-US" sz="900" dirty="0"/>
          </a:p>
        </p:txBody>
      </p:sp>
      <p:sp>
        <p:nvSpPr>
          <p:cNvPr id="278" name="Shape 276"/>
          <p:cNvSpPr/>
          <p:nvPr/>
        </p:nvSpPr>
        <p:spPr>
          <a:xfrm>
            <a:off x="594360" y="4114800"/>
            <a:ext cx="3566160" cy="13716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594360" y="418795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stored_in</a:t>
            </a:r>
            <a:endParaRPr lang="en-US" sz="1000" dirty="0"/>
          </a:p>
        </p:txBody>
      </p:sp>
      <p:sp>
        <p:nvSpPr>
          <p:cNvPr id="280" name="Shape 278"/>
          <p:cNvSpPr/>
          <p:nvPr/>
        </p:nvSpPr>
        <p:spPr>
          <a:xfrm>
            <a:off x="2194560" y="4215384"/>
            <a:ext cx="1531620" cy="237744"/>
          </a:xfrm>
          <a:prstGeom prst="roundRect">
            <a:avLst>
              <a:gd name="adj" fmla="val 30769"/>
            </a:avLst>
          </a:prstGeom>
          <a:solidFill>
            <a:srgbClr val="04060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2194560" y="4215384"/>
            <a:ext cx="15316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9D"/>
                </a:solidFill>
              </a:rPr>
              <a:t>settings table (DB)</a:t>
            </a:r>
            <a:endParaRPr lang="en-US" sz="900" dirty="0"/>
          </a:p>
        </p:txBody>
      </p:sp>
      <p:sp>
        <p:nvSpPr>
          <p:cNvPr id="282" name="Text 280"/>
          <p:cNvSpPr/>
          <p:nvPr/>
        </p:nvSpPr>
        <p:spPr>
          <a:xfrm>
            <a:off x="59436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</a:rPr>
              <a:t>API keys live in .env — never written to DB</a:t>
            </a:r>
            <a:endParaRPr lang="en-US" sz="850" dirty="0"/>
          </a:p>
        </p:txBody>
      </p:sp>
      <p:sp>
        <p:nvSpPr>
          <p:cNvPr id="283" name="Shape 281"/>
          <p:cNvSpPr/>
          <p:nvPr/>
        </p:nvSpPr>
        <p:spPr>
          <a:xfrm>
            <a:off x="4572000" y="1417320"/>
            <a:ext cx="4206240" cy="3520440"/>
          </a:xfrm>
          <a:prstGeom prst="rect">
            <a:avLst/>
          </a:prstGeom>
          <a:solidFill>
            <a:srgbClr val="0C1220"/>
          </a:solidFill>
          <a:ln w="12700">
            <a:solidFill>
              <a:srgbClr val="1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4" name="Text 282"/>
          <p:cNvSpPr/>
          <p:nvPr/>
        </p:nvSpPr>
        <p:spPr>
          <a:xfrm>
            <a:off x="4800600" y="15544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</a:rPr>
              <a:t>🔄  Available Providers</a:t>
            </a:r>
            <a:endParaRPr lang="en-US" sz="1300" dirty="0"/>
          </a:p>
        </p:txBody>
      </p:sp>
      <p:sp>
        <p:nvSpPr>
          <p:cNvPr id="285" name="Shape 283"/>
          <p:cNvSpPr/>
          <p:nvPr/>
        </p:nvSpPr>
        <p:spPr>
          <a:xfrm>
            <a:off x="4800600" y="1993392"/>
            <a:ext cx="3703320" cy="566928"/>
          </a:xfrm>
          <a:prstGeom prst="rect">
            <a:avLst/>
          </a:prstGeom>
          <a:solidFill>
            <a:srgbClr val="080D1A"/>
          </a:solidFill>
          <a:ln w="12700">
            <a:solidFill>
              <a:srgbClr val="9D6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6" name="Shape 284"/>
          <p:cNvSpPr/>
          <p:nvPr/>
        </p:nvSpPr>
        <p:spPr>
          <a:xfrm>
            <a:off x="4800600" y="1993392"/>
            <a:ext cx="45720" cy="566928"/>
          </a:xfrm>
          <a:prstGeom prst="rect">
            <a:avLst/>
          </a:prstGeom>
          <a:solidFill>
            <a:srgbClr val="9D6FFF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87" name="Text 285"/>
          <p:cNvSpPr/>
          <p:nvPr/>
        </p:nvSpPr>
        <p:spPr>
          <a:xfrm>
            <a:off x="4919472" y="206654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🟣</a:t>
            </a:r>
            <a:endParaRPr lang="en-US" sz="1800" dirty="0"/>
          </a:p>
        </p:txBody>
      </p:sp>
      <p:sp>
        <p:nvSpPr>
          <p:cNvPr id="288" name="Text 286"/>
          <p:cNvSpPr/>
          <p:nvPr/>
        </p:nvSpPr>
        <p:spPr>
          <a:xfrm>
            <a:off x="5321808" y="206654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6FF"/>
                </a:solidFill>
              </a:rPr>
              <a:t>Anthropic Claude</a:t>
            </a:r>
            <a:endParaRPr lang="en-US" sz="1150" dirty="0"/>
          </a:p>
        </p:txBody>
      </p:sp>
      <p:sp>
        <p:nvSpPr>
          <p:cNvPr id="289" name="Text 287"/>
          <p:cNvSpPr/>
          <p:nvPr/>
        </p:nvSpPr>
        <p:spPr>
          <a:xfrm>
            <a:off x="5321808" y="230428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claude-opus-4-5 / sonnet-4-6 / haiku-4-5</a:t>
            </a:r>
            <a:endParaRPr lang="en-US" sz="850" dirty="0"/>
          </a:p>
        </p:txBody>
      </p:sp>
      <p:sp>
        <p:nvSpPr>
          <p:cNvPr id="290" name="Shape 288"/>
          <p:cNvSpPr/>
          <p:nvPr/>
        </p:nvSpPr>
        <p:spPr>
          <a:xfrm>
            <a:off x="4800600" y="2706624"/>
            <a:ext cx="3703320" cy="566928"/>
          </a:xfrm>
          <a:prstGeom prst="rect">
            <a:avLst/>
          </a:prstGeom>
          <a:solidFill>
            <a:srgbClr val="080D1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1" name="Shape 289"/>
          <p:cNvSpPr/>
          <p:nvPr/>
        </p:nvSpPr>
        <p:spPr>
          <a:xfrm>
            <a:off x="4800600" y="2706624"/>
            <a:ext cx="45720" cy="5669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4919472" y="2779776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🔵</a:t>
            </a:r>
            <a:endParaRPr lang="en-US" sz="1800" dirty="0"/>
          </a:p>
        </p:txBody>
      </p:sp>
      <p:sp>
        <p:nvSpPr>
          <p:cNvPr id="293" name="Text 291"/>
          <p:cNvSpPr/>
          <p:nvPr/>
        </p:nvSpPr>
        <p:spPr>
          <a:xfrm>
            <a:off x="5321808" y="277977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6FF"/>
                </a:solidFill>
              </a:rPr>
              <a:t>OpenAI GPT</a:t>
            </a:r>
            <a:endParaRPr lang="en-US" sz="1150" dirty="0"/>
          </a:p>
        </p:txBody>
      </p:sp>
      <p:sp>
        <p:nvSpPr>
          <p:cNvPr id="294" name="Text 292"/>
          <p:cNvSpPr/>
          <p:nvPr/>
        </p:nvSpPr>
        <p:spPr>
          <a:xfrm>
            <a:off x="5321808" y="30175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gpt-4o / gpt-4o-mini / gpt-4-turbo</a:t>
            </a:r>
            <a:endParaRPr lang="en-US" sz="850" dirty="0"/>
          </a:p>
        </p:txBody>
      </p:sp>
      <p:sp>
        <p:nvSpPr>
          <p:cNvPr id="295" name="Shape 293"/>
          <p:cNvSpPr/>
          <p:nvPr/>
        </p:nvSpPr>
        <p:spPr>
          <a:xfrm>
            <a:off x="4800600" y="3419856"/>
            <a:ext cx="3703320" cy="566928"/>
          </a:xfrm>
          <a:prstGeom prst="rect">
            <a:avLst/>
          </a:prstGeom>
          <a:solidFill>
            <a:srgbClr val="080D1A"/>
          </a:solidFill>
          <a:ln w="12700">
            <a:solidFill>
              <a:srgbClr val="FFB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6" name="Shape 294"/>
          <p:cNvSpPr/>
          <p:nvPr/>
        </p:nvSpPr>
        <p:spPr>
          <a:xfrm>
            <a:off x="4800600" y="3419856"/>
            <a:ext cx="45720" cy="566928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297" name="Text 295"/>
          <p:cNvSpPr/>
          <p:nvPr/>
        </p:nvSpPr>
        <p:spPr>
          <a:xfrm>
            <a:off x="4919472" y="349300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🟡</a:t>
            </a:r>
            <a:endParaRPr lang="en-US" sz="1800" dirty="0"/>
          </a:p>
        </p:txBody>
      </p:sp>
      <p:sp>
        <p:nvSpPr>
          <p:cNvPr id="298" name="Text 296"/>
          <p:cNvSpPr/>
          <p:nvPr/>
        </p:nvSpPr>
        <p:spPr>
          <a:xfrm>
            <a:off x="5321808" y="349300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6FF"/>
                </a:solidFill>
              </a:rPr>
              <a:t>Google Gemini</a:t>
            </a:r>
            <a:endParaRPr lang="en-US" sz="1150" dirty="0"/>
          </a:p>
        </p:txBody>
      </p:sp>
      <p:sp>
        <p:nvSpPr>
          <p:cNvPr id="299" name="Text 297"/>
          <p:cNvSpPr/>
          <p:nvPr/>
        </p:nvSpPr>
        <p:spPr>
          <a:xfrm>
            <a:off x="5321808" y="37307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gemini-1.5-pro / 1.5-flash / 2.0-flash</a:t>
            </a:r>
            <a:endParaRPr lang="en-US" sz="850" dirty="0"/>
          </a:p>
        </p:txBody>
      </p:sp>
      <p:sp>
        <p:nvSpPr>
          <p:cNvPr id="300" name="Shape 298"/>
          <p:cNvSpPr/>
          <p:nvPr/>
        </p:nvSpPr>
        <p:spPr>
          <a:xfrm>
            <a:off x="4800600" y="4133088"/>
            <a:ext cx="3703320" cy="566928"/>
          </a:xfrm>
          <a:prstGeom prst="rect">
            <a:avLst/>
          </a:prstGeom>
          <a:solidFill>
            <a:srgbClr val="080D1A"/>
          </a:solidFill>
          <a:ln w="12700">
            <a:solidFill>
              <a:srgbClr val="00FF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1" name="Shape 299"/>
          <p:cNvSpPr/>
          <p:nvPr/>
        </p:nvSpPr>
        <p:spPr>
          <a:xfrm>
            <a:off x="4800600" y="4133088"/>
            <a:ext cx="45720" cy="56692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4919472" y="420624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🦙</a:t>
            </a:r>
            <a:endParaRPr lang="en-US" sz="1800" dirty="0"/>
          </a:p>
        </p:txBody>
      </p:sp>
      <p:sp>
        <p:nvSpPr>
          <p:cNvPr id="303" name="Text 301"/>
          <p:cNvSpPr/>
          <p:nvPr/>
        </p:nvSpPr>
        <p:spPr>
          <a:xfrm>
            <a:off x="5321808" y="420624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6FF"/>
                </a:solidFill>
              </a:rPr>
              <a:t>Ollama (Local)</a:t>
            </a:r>
            <a:endParaRPr lang="en-US" sz="1150" dirty="0"/>
          </a:p>
        </p:txBody>
      </p:sp>
      <p:sp>
        <p:nvSpPr>
          <p:cNvPr id="304" name="Text 302"/>
          <p:cNvSpPr/>
          <p:nvPr/>
        </p:nvSpPr>
        <p:spPr>
          <a:xfrm>
            <a:off x="5321808" y="44439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llama3 / mistral / phi3 — fully offline</a:t>
            </a:r>
            <a:endParaRPr lang="en-US" sz="850" dirty="0"/>
          </a:p>
        </p:txBody>
      </p:sp>
      <p:sp>
        <p:nvSpPr>
          <p:cNvPr id="305" name="Shape 303"/>
          <p:cNvSpPr/>
          <p:nvPr/>
        </p:nvSpPr>
        <p:spPr>
          <a:xfrm>
            <a:off x="4800600" y="4645152"/>
            <a:ext cx="3703320" cy="228600"/>
          </a:xfrm>
          <a:prstGeom prst="rect">
            <a:avLst/>
          </a:prstGeom>
          <a:solidFill>
            <a:srgbClr val="080D1A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4846320" y="46451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/api/v1/settings/llm  →  { provider, model }</a:t>
            </a:r>
            <a:endParaRPr lang="en-US" sz="850" dirty="0"/>
          </a:p>
        </p:txBody>
      </p:sp>
      <p:sp>
        <p:nvSpPr>
          <p:cNvPr id="307" name="Text 305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782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1673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1673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1673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1673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1673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1673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1673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1673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1673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1673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1673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1673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5564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5564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5564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5564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5564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5564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5564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5564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75564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5564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5564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5564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9456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9456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9456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9456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9456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9456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9456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9456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9456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9456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19456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9456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3347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3347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3347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63347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3347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3347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63347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3347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63347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63347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63347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63347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07238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07238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07238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7238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07238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07238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7238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7238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07238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07238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07238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07238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51129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51129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51129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51129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51129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1129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1129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1129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1129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51129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1129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51129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95020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95020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95020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95020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95020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95020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95020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95020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95020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5020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95020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5020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38912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38912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38912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38912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38912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8912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2803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2803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2803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2803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2803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2803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2803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2803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2803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82803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82803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82803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26694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6694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26694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26694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26694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26694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26694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26694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26694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26694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26694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26694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70585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70585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70585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70585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70585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70585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70585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70585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70585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70585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70585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70585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14476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14476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14476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14476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14476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14476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14476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14476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14476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14476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14476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14476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58368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58368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58368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58368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58368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58368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58368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58368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58368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58368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58368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58368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02259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02259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02259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02259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02259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02259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2259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2259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02259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02259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02259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02259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6150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6150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6150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6150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6150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6150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46150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46150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46150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46150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46150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46150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041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041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041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041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041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041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041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041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90041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90041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90041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90041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33932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33932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33932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33932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33932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33932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33932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33932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33932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33932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33932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33932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77824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77824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77824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77824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77824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77824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77824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77824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77824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77824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77824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77824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50292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00FF9D"/>
                </a:solidFill>
              </a:rPr>
              <a:t>DATABASE</a:t>
            </a:r>
            <a:endParaRPr lang="en-US" sz="800" dirty="0"/>
          </a:p>
        </p:txBody>
      </p:sp>
      <p:sp>
        <p:nvSpPr>
          <p:cNvPr id="255" name="Text 253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Database for Everything</a:t>
            </a:r>
            <a:endParaRPr lang="en-US" sz="3200" dirty="0"/>
          </a:p>
        </p:txBody>
      </p:sp>
      <p:sp>
        <p:nvSpPr>
          <p:cNvPr id="256" name="Text 254"/>
          <p:cNvSpPr/>
          <p:nvPr/>
        </p:nvSpPr>
        <p:spPr>
          <a:xfrm>
            <a:off x="502920" y="111556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pgvector replaces Weaviate — vectors live inside PostgreSQL</a:t>
            </a:r>
            <a:endParaRPr lang="en-US" sz="1200" dirty="0"/>
          </a:p>
        </p:txBody>
      </p:sp>
      <p:sp>
        <p:nvSpPr>
          <p:cNvPr id="257" name="Shape 255"/>
          <p:cNvSpPr/>
          <p:nvPr/>
        </p:nvSpPr>
        <p:spPr>
          <a:xfrm>
            <a:off x="365760" y="1417320"/>
            <a:ext cx="3840480" cy="2514600"/>
          </a:xfrm>
          <a:prstGeom prst="rect">
            <a:avLst/>
          </a:prstGeom>
          <a:solidFill>
            <a:srgbClr val="1A0808"/>
          </a:solidFill>
          <a:ln w="12700">
            <a:solidFill>
              <a:srgbClr val="3D10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8" name="Shape 256"/>
          <p:cNvSpPr/>
          <p:nvPr/>
        </p:nvSpPr>
        <p:spPr>
          <a:xfrm>
            <a:off x="365760" y="1417320"/>
            <a:ext cx="3840480" cy="36576"/>
          </a:xfrm>
          <a:prstGeom prst="rect">
            <a:avLst/>
          </a:prstGeom>
          <a:solidFill>
            <a:srgbClr val="FF4D6D">
              <a:alpha val="7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594360" y="14813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6D"/>
                </a:solidFill>
              </a:rPr>
              <a:t>❌  Before — Two Services</a:t>
            </a:r>
            <a:endParaRPr lang="en-US" sz="1300" dirty="0"/>
          </a:p>
        </p:txBody>
      </p:sp>
      <p:sp>
        <p:nvSpPr>
          <p:cNvPr id="260" name="Text 258"/>
          <p:cNvSpPr/>
          <p:nvPr/>
        </p:nvSpPr>
        <p:spPr>
          <a:xfrm>
            <a:off x="594360" y="1938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🐘</a:t>
            </a:r>
            <a:endParaRPr lang="en-US" sz="1700" dirty="0"/>
          </a:p>
        </p:txBody>
      </p:sp>
      <p:sp>
        <p:nvSpPr>
          <p:cNvPr id="261" name="Text 259"/>
          <p:cNvSpPr/>
          <p:nvPr/>
        </p:nvSpPr>
        <p:spPr>
          <a:xfrm>
            <a:off x="1005840" y="19385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PostgreSQL — users, sessions, messages, logs</a:t>
            </a:r>
            <a:endParaRPr lang="en-US" sz="1000" dirty="0"/>
          </a:p>
        </p:txBody>
      </p:sp>
      <p:sp>
        <p:nvSpPr>
          <p:cNvPr id="262" name="Text 260"/>
          <p:cNvSpPr/>
          <p:nvPr/>
        </p:nvSpPr>
        <p:spPr>
          <a:xfrm>
            <a:off x="594360" y="2414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🌐</a:t>
            </a:r>
            <a:endParaRPr lang="en-US" sz="1700" dirty="0"/>
          </a:p>
        </p:txBody>
      </p:sp>
      <p:sp>
        <p:nvSpPr>
          <p:cNvPr id="263" name="Text 261"/>
          <p:cNvSpPr/>
          <p:nvPr/>
        </p:nvSpPr>
        <p:spPr>
          <a:xfrm>
            <a:off x="1005840" y="24140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Weaviate — separate container, separate backup, separate ops</a:t>
            </a:r>
            <a:endParaRPr lang="en-US" sz="1000" dirty="0"/>
          </a:p>
        </p:txBody>
      </p:sp>
      <p:sp>
        <p:nvSpPr>
          <p:cNvPr id="264" name="Text 262"/>
          <p:cNvSpPr/>
          <p:nvPr/>
        </p:nvSpPr>
        <p:spPr>
          <a:xfrm>
            <a:off x="594360" y="2889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🔧</a:t>
            </a:r>
            <a:endParaRPr lang="en-US" sz="1700" dirty="0"/>
          </a:p>
        </p:txBody>
      </p:sp>
      <p:sp>
        <p:nvSpPr>
          <p:cNvPr id="265" name="Text 263"/>
          <p:cNvSpPr/>
          <p:nvPr/>
        </p:nvSpPr>
        <p:spPr>
          <a:xfrm>
            <a:off x="1005840" y="288950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Two connection strings, two monitoring setups</a:t>
            </a:r>
            <a:endParaRPr lang="en-US" sz="1000" dirty="0"/>
          </a:p>
        </p:txBody>
      </p:sp>
      <p:sp>
        <p:nvSpPr>
          <p:cNvPr id="266" name="Text 264"/>
          <p:cNvSpPr/>
          <p:nvPr/>
        </p:nvSpPr>
        <p:spPr>
          <a:xfrm>
            <a:off x="594360" y="3364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💸</a:t>
            </a:r>
            <a:endParaRPr lang="en-US" sz="1700" dirty="0"/>
          </a:p>
        </p:txBody>
      </p:sp>
      <p:sp>
        <p:nvSpPr>
          <p:cNvPr id="267" name="Text 265"/>
          <p:cNvSpPr/>
          <p:nvPr/>
        </p:nvSpPr>
        <p:spPr>
          <a:xfrm>
            <a:off x="1005840" y="33649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Extra infrastructure cost and operational burden</a:t>
            </a:r>
            <a:endParaRPr lang="en-US" sz="1000" dirty="0"/>
          </a:p>
        </p:txBody>
      </p:sp>
      <p:sp>
        <p:nvSpPr>
          <p:cNvPr id="268" name="Text 266"/>
          <p:cNvSpPr/>
          <p:nvPr/>
        </p:nvSpPr>
        <p:spPr>
          <a:xfrm>
            <a:off x="4297680" y="2514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→</a:t>
            </a:r>
            <a:endParaRPr lang="en-US" sz="2800" dirty="0"/>
          </a:p>
        </p:txBody>
      </p:sp>
      <p:sp>
        <p:nvSpPr>
          <p:cNvPr id="269" name="Shape 267"/>
          <p:cNvSpPr/>
          <p:nvPr/>
        </p:nvSpPr>
        <p:spPr>
          <a:xfrm>
            <a:off x="4937760" y="1417320"/>
            <a:ext cx="3840480" cy="2514600"/>
          </a:xfrm>
          <a:prstGeom prst="rect">
            <a:avLst/>
          </a:prstGeom>
          <a:solidFill>
            <a:srgbClr val="081A10"/>
          </a:solidFill>
          <a:ln w="12700">
            <a:solidFill>
              <a:srgbClr val="1040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0" name="Shape 268"/>
          <p:cNvSpPr/>
          <p:nvPr/>
        </p:nvSpPr>
        <p:spPr>
          <a:xfrm>
            <a:off x="4937760" y="1417320"/>
            <a:ext cx="3840480" cy="36576"/>
          </a:xfrm>
          <a:prstGeom prst="rect">
            <a:avLst/>
          </a:prstGeom>
          <a:solidFill>
            <a:srgbClr val="00FF9D">
              <a:alpha val="70000"/>
            </a:srgbClr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5166360" y="14813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D"/>
                </a:solidFill>
              </a:rPr>
              <a:t>✅  After — One Service</a:t>
            </a:r>
            <a:endParaRPr lang="en-US" sz="1300" dirty="0"/>
          </a:p>
        </p:txBody>
      </p:sp>
      <p:sp>
        <p:nvSpPr>
          <p:cNvPr id="272" name="Text 270"/>
          <p:cNvSpPr/>
          <p:nvPr/>
        </p:nvSpPr>
        <p:spPr>
          <a:xfrm>
            <a:off x="5166360" y="1938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🐘</a:t>
            </a:r>
            <a:endParaRPr lang="en-US" sz="1700" dirty="0"/>
          </a:p>
        </p:txBody>
      </p:sp>
      <p:sp>
        <p:nvSpPr>
          <p:cNvPr id="273" name="Text 271"/>
          <p:cNvSpPr/>
          <p:nvPr/>
        </p:nvSpPr>
        <p:spPr>
          <a:xfrm>
            <a:off x="5577840" y="19385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4E8"/>
                </a:solidFill>
              </a:rPr>
              <a:t>PostgreSQL + pgvector — everything in one place</a:t>
            </a:r>
            <a:endParaRPr lang="en-US" sz="1000" dirty="0"/>
          </a:p>
        </p:txBody>
      </p:sp>
      <p:sp>
        <p:nvSpPr>
          <p:cNvPr id="274" name="Text 272"/>
          <p:cNvSpPr/>
          <p:nvPr/>
        </p:nvSpPr>
        <p:spPr>
          <a:xfrm>
            <a:off x="5166360" y="2414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🧬</a:t>
            </a:r>
            <a:endParaRPr lang="en-US" sz="1700" dirty="0"/>
          </a:p>
        </p:txBody>
      </p:sp>
      <p:sp>
        <p:nvSpPr>
          <p:cNvPr id="275" name="Text 273"/>
          <p:cNvSpPr/>
          <p:nvPr/>
        </p:nvSpPr>
        <p:spPr>
          <a:xfrm>
            <a:off x="5577840" y="24140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4E8"/>
                </a:solidFill>
              </a:rPr>
              <a:t>document_chunks table has an embedding vector(1536) column</a:t>
            </a:r>
            <a:endParaRPr lang="en-US" sz="1000" dirty="0"/>
          </a:p>
        </p:txBody>
      </p:sp>
      <p:sp>
        <p:nvSpPr>
          <p:cNvPr id="276" name="Text 274"/>
          <p:cNvSpPr/>
          <p:nvPr/>
        </p:nvSpPr>
        <p:spPr>
          <a:xfrm>
            <a:off x="5166360" y="2889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⚡</a:t>
            </a:r>
            <a:endParaRPr lang="en-US" sz="1700" dirty="0"/>
          </a:p>
        </p:txBody>
      </p:sp>
      <p:sp>
        <p:nvSpPr>
          <p:cNvPr id="277" name="Text 275"/>
          <p:cNvSpPr/>
          <p:nvPr/>
        </p:nvSpPr>
        <p:spPr>
          <a:xfrm>
            <a:off x="5577840" y="288950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4E8"/>
                </a:solidFill>
              </a:rPr>
              <a:t>HNSW index for real-time cosine similarity search</a:t>
            </a:r>
            <a:endParaRPr lang="en-US" sz="1000" dirty="0"/>
          </a:p>
        </p:txBody>
      </p:sp>
      <p:sp>
        <p:nvSpPr>
          <p:cNvPr id="278" name="Text 276"/>
          <p:cNvSpPr/>
          <p:nvPr/>
        </p:nvSpPr>
        <p:spPr>
          <a:xfrm>
            <a:off x="5166360" y="3364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🔒</a:t>
            </a:r>
            <a:endParaRPr lang="en-US" sz="1700" dirty="0"/>
          </a:p>
        </p:txBody>
      </p:sp>
      <p:sp>
        <p:nvSpPr>
          <p:cNvPr id="279" name="Text 277"/>
          <p:cNvSpPr/>
          <p:nvPr/>
        </p:nvSpPr>
        <p:spPr>
          <a:xfrm>
            <a:off x="5577840" y="33649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4E8"/>
                </a:solidFill>
              </a:rPr>
              <a:t>One pg_dump covers all data AND all vectors</a:t>
            </a:r>
            <a:endParaRPr lang="en-US" sz="1000" dirty="0"/>
          </a:p>
        </p:txBody>
      </p:sp>
      <p:sp>
        <p:nvSpPr>
          <p:cNvPr id="280" name="Shape 278"/>
          <p:cNvSpPr/>
          <p:nvPr/>
        </p:nvSpPr>
        <p:spPr>
          <a:xfrm>
            <a:off x="365760" y="4041648"/>
            <a:ext cx="8412480" cy="914400"/>
          </a:xfrm>
          <a:prstGeom prst="rect">
            <a:avLst/>
          </a:prstGeom>
          <a:solidFill>
            <a:srgbClr val="0C1220"/>
          </a:solidFill>
          <a:ln w="12700">
            <a:solidFill>
              <a:srgbClr val="1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1" name="Text 279"/>
          <p:cNvSpPr/>
          <p:nvPr/>
        </p:nvSpPr>
        <p:spPr>
          <a:xfrm>
            <a:off x="594360" y="4160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1100" dirty="0">
                <a:solidFill>
                  <a:srgbClr val="C8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content, source, </a:t>
            </a:r>
            <a:pPr indent="0" marL="0">
              <a:buNone/>
            </a:pPr>
            <a:r>
              <a:rPr lang="en-US" sz="1100" dirty="0">
                <a:solidFill>
                  <a:srgbClr val="FF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 (embedding &lt;=&gt; $1::vector)</a:t>
            </a:r>
            <a:pPr indent="0" marL="0">
              <a:buNone/>
            </a:pPr>
            <a:r>
              <a:rPr lang="en-US" sz="1100" dirty="0">
                <a:solidFill>
                  <a:srgbClr val="C8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score  FROM </a:t>
            </a:r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document_chunks</a:t>
            </a:r>
            <a:pPr indent="0" marL="0">
              <a:buNone/>
            </a:pPr>
            <a:r>
              <a:rPr lang="en-US" sz="1100" b="1" dirty="0">
                <a:solidFill>
                  <a:srgbClr val="9D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</a:t>
            </a:r>
            <a:pPr indent="0" marL="0">
              <a:buNone/>
            </a:pPr>
            <a:r>
              <a:rPr lang="en-US" sz="1100" dirty="0">
                <a:solidFill>
                  <a:srgbClr val="C8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 IN</a:t>
            </a:r>
            <a:pPr indent="0" marL="0">
              <a:buNone/>
            </a:pPr>
            <a:r>
              <a:rPr lang="en-US" sz="1100" dirty="0">
                <a:solidFill>
                  <a:srgbClr val="00FF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($2, 'general')  </a:t>
            </a:r>
            <a:pPr indent="0" marL="0">
              <a:buNone/>
            </a:pPr>
            <a:r>
              <a:rPr lang="en-US" sz="1100" b="1" dirty="0">
                <a:solidFill>
                  <a:srgbClr val="9D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pPr indent="0" marL="0">
              <a:buNone/>
            </a:pPr>
            <a:r>
              <a:rPr lang="en-US" sz="1100" dirty="0">
                <a:solidFill>
                  <a:srgbClr val="C8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embedding &lt;=&gt; $1::vector  </a:t>
            </a:r>
            <a:pPr indent="0" marL="0">
              <a:buNone/>
            </a:pPr>
            <a:r>
              <a:rPr lang="en-US" sz="1100" b="1" dirty="0">
                <a:solidFill>
                  <a:srgbClr val="9D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pPr indent="0" marL="0">
              <a:buNone/>
            </a:pPr>
            <a:r>
              <a:rPr lang="en-US" sz="1100" dirty="0">
                <a:solidFill>
                  <a:srgbClr val="C8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5;</a:t>
            </a:r>
            <a:endParaRPr lang="en-US" sz="1100" dirty="0"/>
          </a:p>
        </p:txBody>
      </p:sp>
      <p:sp>
        <p:nvSpPr>
          <p:cNvPr id="282" name="Text 280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782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1673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1673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1673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1673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1673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1673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1673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1673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1673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1673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1673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1673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5564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5564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5564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5564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5564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5564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5564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5564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75564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5564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5564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5564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9456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9456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9456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9456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9456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9456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9456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9456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9456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9456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19456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9456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3347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3347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3347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63347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3347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3347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63347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3347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63347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63347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63347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63347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07238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07238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07238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7238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07238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07238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7238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7238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07238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07238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07238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07238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51129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51129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51129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51129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51129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1129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1129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1129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1129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51129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1129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51129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95020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95020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95020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95020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95020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95020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95020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95020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95020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5020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95020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5020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38912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38912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38912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38912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38912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8912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2803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2803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2803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2803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2803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2803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2803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2803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2803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82803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82803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82803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26694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6694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26694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26694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26694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26694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26694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26694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26694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26694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26694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26694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70585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70585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70585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70585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70585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70585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70585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70585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70585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70585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70585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70585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14476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14476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14476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14476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14476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14476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14476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14476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14476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14476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14476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14476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58368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58368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58368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58368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58368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58368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58368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58368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58368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58368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58368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58368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02259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02259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02259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02259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02259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02259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2259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2259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02259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02259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02259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02259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6150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6150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6150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6150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6150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6150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46150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46150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46150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46150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46150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46150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041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041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041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041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041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041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041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041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90041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90041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90041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90041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33932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33932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33932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33932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33932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33932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33932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33932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33932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33932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33932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33932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77824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77824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77824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77824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77824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77824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77824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77824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77824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77824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77824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77824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50292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4D6D"/>
                </a:solidFill>
              </a:rPr>
              <a:t>SECURITY + TOKENS</a:t>
            </a:r>
            <a:endParaRPr lang="en-US" sz="800" dirty="0"/>
          </a:p>
        </p:txBody>
      </p:sp>
      <p:sp>
        <p:nvSpPr>
          <p:cNvPr id="255" name="Text 253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Protected by Design</a:t>
            </a:r>
            <a:endParaRPr lang="en-US" sz="3200" dirty="0"/>
          </a:p>
        </p:txBody>
      </p:sp>
      <p:sp>
        <p:nvSpPr>
          <p:cNvPr id="256" name="Text 254"/>
          <p:cNvSpPr/>
          <p:nvPr/>
        </p:nvSpPr>
        <p:spPr>
          <a:xfrm>
            <a:off x="502920" y="111556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Every request validated, every token counted</a:t>
            </a:r>
            <a:endParaRPr lang="en-US" sz="1200" dirty="0"/>
          </a:p>
        </p:txBody>
      </p:sp>
      <p:sp>
        <p:nvSpPr>
          <p:cNvPr id="257" name="Shape 255"/>
          <p:cNvSpPr/>
          <p:nvPr/>
        </p:nvSpPr>
        <p:spPr>
          <a:xfrm>
            <a:off x="365760" y="1417320"/>
            <a:ext cx="4114800" cy="3566160"/>
          </a:xfrm>
          <a:prstGeom prst="rect">
            <a:avLst/>
          </a:prstGeom>
          <a:solidFill>
            <a:srgbClr val="0C1220"/>
          </a:solidFill>
          <a:ln w="12700">
            <a:solidFill>
              <a:srgbClr val="1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8" name="Text 256"/>
          <p:cNvSpPr/>
          <p:nvPr/>
        </p:nvSpPr>
        <p:spPr>
          <a:xfrm>
            <a:off x="594360" y="15361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</a:rPr>
              <a:t>🔐  Security Layers</a:t>
            </a:r>
            <a:endParaRPr lang="en-US" sz="1300" dirty="0"/>
          </a:p>
        </p:txBody>
      </p:sp>
      <p:sp>
        <p:nvSpPr>
          <p:cNvPr id="259" name="Shape 257"/>
          <p:cNvSpPr/>
          <p:nvPr/>
        </p:nvSpPr>
        <p:spPr>
          <a:xfrm>
            <a:off x="594360" y="208483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777240" y="199339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4E8"/>
                </a:solidFill>
              </a:rPr>
              <a:t>JWT access tokens (15min) + refresh tokens (7 days)</a:t>
            </a:r>
            <a:endParaRPr lang="en-US" sz="1050" dirty="0"/>
          </a:p>
        </p:txBody>
      </p:sp>
      <p:sp>
        <p:nvSpPr>
          <p:cNvPr id="261" name="Shape 259"/>
          <p:cNvSpPr/>
          <p:nvPr/>
        </p:nvSpPr>
        <p:spPr>
          <a:xfrm>
            <a:off x="594360" y="256032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777240" y="246888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4E8"/>
                </a:solidFill>
              </a:rPr>
              <a:t>RBAC — ADMIN · MANAGER · EMPLOYEE · VIEWER</a:t>
            </a:r>
            <a:endParaRPr lang="en-US" sz="1050" dirty="0"/>
          </a:p>
        </p:txBody>
      </p:sp>
      <p:sp>
        <p:nvSpPr>
          <p:cNvPr id="263" name="Shape 261"/>
          <p:cNvSpPr/>
          <p:nvPr/>
        </p:nvSpPr>
        <p:spPr>
          <a:xfrm>
            <a:off x="594360" y="3035808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777240" y="294436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4E8"/>
                </a:solidFill>
              </a:rPr>
              <a:t>Department isolation — HR can't see Finance docs</a:t>
            </a:r>
            <a:endParaRPr lang="en-US" sz="1050" dirty="0"/>
          </a:p>
        </p:txBody>
      </p:sp>
      <p:sp>
        <p:nvSpPr>
          <p:cNvPr id="265" name="Shape 263"/>
          <p:cNvSpPr/>
          <p:nvPr/>
        </p:nvSpPr>
        <p:spPr>
          <a:xfrm>
            <a:off x="594360" y="3511296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777240" y="341985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4E8"/>
                </a:solidFill>
              </a:rPr>
              <a:t>Prompt injection protection on every input</a:t>
            </a:r>
            <a:endParaRPr lang="en-US" sz="1050" dirty="0"/>
          </a:p>
        </p:txBody>
      </p:sp>
      <p:sp>
        <p:nvSpPr>
          <p:cNvPr id="267" name="Shape 265"/>
          <p:cNvSpPr/>
          <p:nvPr/>
        </p:nvSpPr>
        <p:spPr>
          <a:xfrm>
            <a:off x="594360" y="3986784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777240" y="389534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4E8"/>
                </a:solidFill>
              </a:rPr>
              <a:t>Helmet + CORS + rate limiting on API gateway</a:t>
            </a:r>
            <a:endParaRPr lang="en-US" sz="1050" dirty="0"/>
          </a:p>
        </p:txBody>
      </p:sp>
      <p:sp>
        <p:nvSpPr>
          <p:cNvPr id="269" name="Shape 267"/>
          <p:cNvSpPr/>
          <p:nvPr/>
        </p:nvSpPr>
        <p:spPr>
          <a:xfrm>
            <a:off x="594360" y="446227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777240" y="437083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4E8"/>
                </a:solidFill>
              </a:rPr>
              <a:t>Audit log — every query stored with user + tokens</a:t>
            </a:r>
            <a:endParaRPr lang="en-US" sz="1050" dirty="0"/>
          </a:p>
        </p:txBody>
      </p:sp>
      <p:sp>
        <p:nvSpPr>
          <p:cNvPr id="271" name="Shape 269"/>
          <p:cNvSpPr/>
          <p:nvPr/>
        </p:nvSpPr>
        <p:spPr>
          <a:xfrm>
            <a:off x="4663440" y="1417320"/>
            <a:ext cx="4114800" cy="3566160"/>
          </a:xfrm>
          <a:prstGeom prst="rect">
            <a:avLst/>
          </a:prstGeom>
          <a:solidFill>
            <a:srgbClr val="0C1220"/>
          </a:solidFill>
          <a:ln w="12700">
            <a:solidFill>
              <a:srgbClr val="1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2" name="Text 270"/>
          <p:cNvSpPr/>
          <p:nvPr/>
        </p:nvSpPr>
        <p:spPr>
          <a:xfrm>
            <a:off x="4892040" y="15361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</a:rPr>
              <a:t>🪙  Token Budgets (Daily)</a:t>
            </a:r>
            <a:endParaRPr lang="en-US" sz="1300" dirty="0"/>
          </a:p>
        </p:txBody>
      </p:sp>
      <p:sp>
        <p:nvSpPr>
          <p:cNvPr id="273" name="Shape 271"/>
          <p:cNvSpPr/>
          <p:nvPr/>
        </p:nvSpPr>
        <p:spPr>
          <a:xfrm>
            <a:off x="4892040" y="1993392"/>
            <a:ext cx="3611880" cy="292608"/>
          </a:xfrm>
          <a:prstGeom prst="rect">
            <a:avLst/>
          </a:prstGeom>
          <a:solidFill>
            <a:srgbClr val="080D1A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4937760" y="199339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</a:rPr>
              <a:t>Role</a:t>
            </a:r>
            <a:endParaRPr lang="en-US" sz="950" dirty="0"/>
          </a:p>
        </p:txBody>
      </p:sp>
      <p:sp>
        <p:nvSpPr>
          <p:cNvPr id="275" name="Text 273"/>
          <p:cNvSpPr/>
          <p:nvPr/>
        </p:nvSpPr>
        <p:spPr>
          <a:xfrm>
            <a:off x="6080760" y="199339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</a:rPr>
              <a:t>Daily Budget</a:t>
            </a:r>
            <a:endParaRPr lang="en-US" sz="950" dirty="0"/>
          </a:p>
        </p:txBody>
      </p:sp>
      <p:sp>
        <p:nvSpPr>
          <p:cNvPr id="276" name="Text 274"/>
          <p:cNvSpPr/>
          <p:nvPr/>
        </p:nvSpPr>
        <p:spPr>
          <a:xfrm>
            <a:off x="7452360" y="19933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</a:rPr>
              <a:t>Warning</a:t>
            </a:r>
            <a:endParaRPr lang="en-US" sz="950" dirty="0"/>
          </a:p>
        </p:txBody>
      </p:sp>
      <p:sp>
        <p:nvSpPr>
          <p:cNvPr id="277" name="Shape 275"/>
          <p:cNvSpPr/>
          <p:nvPr/>
        </p:nvSpPr>
        <p:spPr>
          <a:xfrm>
            <a:off x="4892040" y="2359152"/>
            <a:ext cx="3611880" cy="402336"/>
          </a:xfrm>
          <a:prstGeom prst="rect">
            <a:avLst/>
          </a:prstGeom>
          <a:solidFill>
            <a:srgbClr val="0A1018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4937760" y="235915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D"/>
                </a:solidFill>
              </a:rPr>
              <a:t>ADMIN</a:t>
            </a:r>
            <a:endParaRPr lang="en-US" sz="1100" dirty="0"/>
          </a:p>
        </p:txBody>
      </p:sp>
      <p:sp>
        <p:nvSpPr>
          <p:cNvPr id="279" name="Text 277"/>
          <p:cNvSpPr/>
          <p:nvPr/>
        </p:nvSpPr>
        <p:spPr>
          <a:xfrm>
            <a:off x="6080760" y="235915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9D"/>
                </a:solidFill>
              </a:rPr>
              <a:t>Unlimited</a:t>
            </a:r>
            <a:endParaRPr lang="en-US" sz="1100" dirty="0"/>
          </a:p>
        </p:txBody>
      </p:sp>
      <p:sp>
        <p:nvSpPr>
          <p:cNvPr id="280" name="Text 278"/>
          <p:cNvSpPr/>
          <p:nvPr/>
        </p:nvSpPr>
        <p:spPr>
          <a:xfrm>
            <a:off x="7452360" y="2359152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—</a:t>
            </a:r>
            <a:endParaRPr lang="en-US" sz="1100" dirty="0"/>
          </a:p>
        </p:txBody>
      </p:sp>
      <p:sp>
        <p:nvSpPr>
          <p:cNvPr id="281" name="Text 279"/>
          <p:cNvSpPr/>
          <p:nvPr/>
        </p:nvSpPr>
        <p:spPr>
          <a:xfrm>
            <a:off x="4937760" y="283464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40"/>
                </a:solidFill>
              </a:rPr>
              <a:t>MANAGER</a:t>
            </a:r>
            <a:endParaRPr lang="en-US" sz="1100" dirty="0"/>
          </a:p>
        </p:txBody>
      </p:sp>
      <p:sp>
        <p:nvSpPr>
          <p:cNvPr id="282" name="Text 280"/>
          <p:cNvSpPr/>
          <p:nvPr/>
        </p:nvSpPr>
        <p:spPr>
          <a:xfrm>
            <a:off x="6080760" y="28346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8"/>
                </a:solidFill>
              </a:rPr>
              <a:t>100,000</a:t>
            </a:r>
            <a:endParaRPr lang="en-US" sz="1100" dirty="0"/>
          </a:p>
        </p:txBody>
      </p:sp>
      <p:sp>
        <p:nvSpPr>
          <p:cNvPr id="283" name="Text 281"/>
          <p:cNvSpPr/>
          <p:nvPr/>
        </p:nvSpPr>
        <p:spPr>
          <a:xfrm>
            <a:off x="7452360" y="283464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740"/>
                </a:solidFill>
              </a:rPr>
              <a:t>80,000</a:t>
            </a:r>
            <a:endParaRPr lang="en-US" sz="1100" dirty="0"/>
          </a:p>
        </p:txBody>
      </p:sp>
      <p:sp>
        <p:nvSpPr>
          <p:cNvPr id="284" name="Shape 282"/>
          <p:cNvSpPr/>
          <p:nvPr/>
        </p:nvSpPr>
        <p:spPr>
          <a:xfrm>
            <a:off x="4892040" y="3310128"/>
            <a:ext cx="3611880" cy="402336"/>
          </a:xfrm>
          <a:prstGeom prst="rect">
            <a:avLst/>
          </a:prstGeom>
          <a:solidFill>
            <a:srgbClr val="0A1018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4937760" y="331012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EMPLOYEE</a:t>
            </a:r>
            <a:endParaRPr lang="en-US" sz="1100" dirty="0"/>
          </a:p>
        </p:txBody>
      </p:sp>
      <p:sp>
        <p:nvSpPr>
          <p:cNvPr id="286" name="Text 284"/>
          <p:cNvSpPr/>
          <p:nvPr/>
        </p:nvSpPr>
        <p:spPr>
          <a:xfrm>
            <a:off x="6080760" y="331012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8"/>
                </a:solidFill>
              </a:rPr>
              <a:t>20,000</a:t>
            </a:r>
            <a:endParaRPr lang="en-US" sz="1100" dirty="0"/>
          </a:p>
        </p:txBody>
      </p:sp>
      <p:sp>
        <p:nvSpPr>
          <p:cNvPr id="287" name="Text 285"/>
          <p:cNvSpPr/>
          <p:nvPr/>
        </p:nvSpPr>
        <p:spPr>
          <a:xfrm>
            <a:off x="7452360" y="331012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740"/>
                </a:solidFill>
              </a:rPr>
              <a:t>16,000</a:t>
            </a:r>
            <a:endParaRPr lang="en-US" sz="1100" dirty="0"/>
          </a:p>
        </p:txBody>
      </p:sp>
      <p:sp>
        <p:nvSpPr>
          <p:cNvPr id="288" name="Text 286"/>
          <p:cNvSpPr/>
          <p:nvPr/>
        </p:nvSpPr>
        <p:spPr>
          <a:xfrm>
            <a:off x="4937760" y="378561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568"/>
                </a:solidFill>
              </a:rPr>
              <a:t>VIEWER</a:t>
            </a:r>
            <a:endParaRPr lang="en-US" sz="1100" dirty="0"/>
          </a:p>
        </p:txBody>
      </p:sp>
      <p:sp>
        <p:nvSpPr>
          <p:cNvPr id="289" name="Text 287"/>
          <p:cNvSpPr/>
          <p:nvPr/>
        </p:nvSpPr>
        <p:spPr>
          <a:xfrm>
            <a:off x="6080760" y="378561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8"/>
                </a:solidFill>
              </a:rPr>
              <a:t>5,000</a:t>
            </a:r>
            <a:endParaRPr lang="en-US" sz="1100" dirty="0"/>
          </a:p>
        </p:txBody>
      </p:sp>
      <p:sp>
        <p:nvSpPr>
          <p:cNvPr id="290" name="Text 288"/>
          <p:cNvSpPr/>
          <p:nvPr/>
        </p:nvSpPr>
        <p:spPr>
          <a:xfrm>
            <a:off x="7452360" y="3785616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740"/>
                </a:solidFill>
              </a:rPr>
              <a:t>4,000</a:t>
            </a:r>
            <a:endParaRPr lang="en-US" sz="1100" dirty="0"/>
          </a:p>
        </p:txBody>
      </p:sp>
      <p:sp>
        <p:nvSpPr>
          <p:cNvPr id="291" name="Text 289"/>
          <p:cNvSpPr/>
          <p:nvPr/>
        </p:nvSpPr>
        <p:spPr>
          <a:xfrm>
            <a:off x="4892040" y="4343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Quotas reset at midnight daily  </a:t>
            </a:r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Response cache = 0 extra tokens  </a:t>
            </a:r>
            <a:endParaRPr lang="en-US" sz="950" dirty="0"/>
          </a:p>
        </p:txBody>
      </p:sp>
      <p:sp>
        <p:nvSpPr>
          <p:cNvPr id="292" name="Text 290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782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1673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1673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1673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1673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1673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1673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1673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1673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1673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1673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1673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1673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5564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5564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5564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5564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5564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5564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5564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5564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75564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5564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5564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5564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9456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9456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9456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9456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9456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9456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9456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9456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9456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9456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19456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9456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3347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3347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3347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63347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3347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3347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63347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3347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63347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63347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63347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63347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07238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07238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07238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7238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07238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07238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7238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7238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07238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07238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07238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07238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51129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51129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51129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51129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51129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1129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1129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1129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1129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51129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1129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51129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95020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95020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95020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95020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95020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95020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95020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95020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95020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5020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95020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5020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38912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38912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38912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38912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38912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8912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2803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2803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2803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2803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2803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2803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2803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2803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2803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82803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82803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82803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26694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6694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26694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26694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26694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26694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26694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26694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26694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26694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26694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26694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70585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70585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70585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70585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70585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70585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70585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70585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70585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70585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70585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70585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14476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14476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14476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14476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14476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14476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14476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14476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14476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14476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14476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14476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58368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58368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58368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58368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58368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58368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58368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58368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58368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58368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58368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58368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02259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02259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02259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02259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02259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02259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2259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2259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02259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02259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02259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02259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6150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6150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6150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6150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6150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6150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46150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46150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46150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46150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46150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46150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041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041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041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041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041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041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041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041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90041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90041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90041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90041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33932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33932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33932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33932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33932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33932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33932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33932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33932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33932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33932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33932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77824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77824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77824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77824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77824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77824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77824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77824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77824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77824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77824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77824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50292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00D4FF"/>
                </a:solidFill>
              </a:rPr>
              <a:t>TECH STACK</a:t>
            </a:r>
            <a:endParaRPr lang="en-US" sz="800" dirty="0"/>
          </a:p>
        </p:txBody>
      </p:sp>
      <p:sp>
        <p:nvSpPr>
          <p:cNvPr id="255" name="Text 253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Proven Infrastructure</a:t>
            </a:r>
            <a:endParaRPr lang="en-US" sz="3200" dirty="0"/>
          </a:p>
        </p:txBody>
      </p:sp>
      <p:sp>
        <p:nvSpPr>
          <p:cNvPr id="256" name="Text 254"/>
          <p:cNvSpPr/>
          <p:nvPr/>
        </p:nvSpPr>
        <p:spPr>
          <a:xfrm>
            <a:off x="502920" y="111556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Every layer chosen for reliability and Must Company's scale</a:t>
            </a:r>
            <a:endParaRPr lang="en-US" sz="1200" dirty="0"/>
          </a:p>
        </p:txBody>
      </p:sp>
      <p:sp>
        <p:nvSpPr>
          <p:cNvPr id="257" name="Shape 255"/>
          <p:cNvSpPr/>
          <p:nvPr/>
        </p:nvSpPr>
        <p:spPr>
          <a:xfrm>
            <a:off x="365760" y="1417320"/>
            <a:ext cx="2057400" cy="1371600"/>
          </a:xfrm>
          <a:prstGeom prst="rect">
            <a:avLst/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8" name="Shape 256"/>
          <p:cNvSpPr/>
          <p:nvPr/>
        </p:nvSpPr>
        <p:spPr>
          <a:xfrm>
            <a:off x="365760" y="1417320"/>
            <a:ext cx="2057400" cy="36576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493776" y="15087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D4FF"/>
                </a:solidFill>
              </a:rPr>
              <a:t>MONOREPO</a:t>
            </a:r>
            <a:endParaRPr lang="en-US" sz="750" dirty="0"/>
          </a:p>
        </p:txBody>
      </p:sp>
      <p:sp>
        <p:nvSpPr>
          <p:cNvPr id="260" name="Text 258"/>
          <p:cNvSpPr/>
          <p:nvPr/>
        </p:nvSpPr>
        <p:spPr>
          <a:xfrm>
            <a:off x="493776" y="1737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Nx 19</a:t>
            </a:r>
            <a:endParaRPr lang="en-US" sz="1200" dirty="0"/>
          </a:p>
        </p:txBody>
      </p:sp>
      <p:sp>
        <p:nvSpPr>
          <p:cNvPr id="261" name="Text 259"/>
          <p:cNvSpPr/>
          <p:nvPr/>
        </p:nvSpPr>
        <p:spPr>
          <a:xfrm>
            <a:off x="493776" y="21305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Affected builds, dep graph, caching. Rebuilds only what changed.</a:t>
            </a:r>
            <a:endParaRPr lang="en-US" sz="900" dirty="0"/>
          </a:p>
        </p:txBody>
      </p:sp>
      <p:sp>
        <p:nvSpPr>
          <p:cNvPr id="262" name="Shape 260"/>
          <p:cNvSpPr/>
          <p:nvPr/>
        </p:nvSpPr>
        <p:spPr>
          <a:xfrm>
            <a:off x="2606040" y="1417320"/>
            <a:ext cx="2057400" cy="1371600"/>
          </a:xfrm>
          <a:prstGeom prst="rect">
            <a:avLst/>
          </a:prstGeom>
          <a:solidFill>
            <a:srgbClr val="0C1220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3" name="Shape 261"/>
          <p:cNvSpPr/>
          <p:nvPr/>
        </p:nvSpPr>
        <p:spPr>
          <a:xfrm>
            <a:off x="2606040" y="1417320"/>
            <a:ext cx="2057400" cy="36576"/>
          </a:xfrm>
          <a:prstGeom prst="rect">
            <a:avLst/>
          </a:prstGeom>
          <a:solidFill>
            <a:srgbClr val="60A5FA">
              <a:alpha val="7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2734056" y="15087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0A5FA"/>
                </a:solidFill>
              </a:rPr>
              <a:t>FRONTEND</a:t>
            </a:r>
            <a:endParaRPr lang="en-US" sz="750" dirty="0"/>
          </a:p>
        </p:txBody>
      </p:sp>
      <p:sp>
        <p:nvSpPr>
          <p:cNvPr id="265" name="Text 263"/>
          <p:cNvSpPr/>
          <p:nvPr/>
        </p:nvSpPr>
        <p:spPr>
          <a:xfrm>
            <a:off x="2734056" y="1737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14</a:t>
            </a:r>
            <a:endParaRPr lang="en-US" sz="1200" dirty="0"/>
          </a:p>
        </p:txBody>
      </p:sp>
      <p:sp>
        <p:nvSpPr>
          <p:cNvPr id="266" name="Text 264"/>
          <p:cNvSpPr/>
          <p:nvPr/>
        </p:nvSpPr>
        <p:spPr>
          <a:xfrm>
            <a:off x="2734056" y="21305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App Router, SSE streaming, Zustand state management.</a:t>
            </a:r>
            <a:endParaRPr lang="en-US" sz="900" dirty="0"/>
          </a:p>
        </p:txBody>
      </p:sp>
      <p:sp>
        <p:nvSpPr>
          <p:cNvPr id="267" name="Shape 265"/>
          <p:cNvSpPr/>
          <p:nvPr/>
        </p:nvSpPr>
        <p:spPr>
          <a:xfrm>
            <a:off x="4846320" y="1417320"/>
            <a:ext cx="2057400" cy="1371600"/>
          </a:xfrm>
          <a:prstGeom prst="rect">
            <a:avLst/>
          </a:prstGeom>
          <a:solidFill>
            <a:srgbClr val="0C1220"/>
          </a:solidFill>
          <a:ln w="12700">
            <a:solidFill>
              <a:srgbClr val="FFB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8" name="Shape 266"/>
          <p:cNvSpPr/>
          <p:nvPr/>
        </p:nvSpPr>
        <p:spPr>
          <a:xfrm>
            <a:off x="4846320" y="1417320"/>
            <a:ext cx="2057400" cy="36576"/>
          </a:xfrm>
          <a:prstGeom prst="rect">
            <a:avLst/>
          </a:prstGeom>
          <a:solidFill>
            <a:srgbClr val="FFB740">
              <a:alpha val="70000"/>
            </a:srgbClr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4974336" y="15087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B740"/>
                </a:solidFill>
              </a:rPr>
              <a:t>API GATEWAY</a:t>
            </a:r>
            <a:endParaRPr lang="en-US" sz="750" dirty="0"/>
          </a:p>
        </p:txBody>
      </p:sp>
      <p:sp>
        <p:nvSpPr>
          <p:cNvPr id="270" name="Text 268"/>
          <p:cNvSpPr/>
          <p:nvPr/>
        </p:nvSpPr>
        <p:spPr>
          <a:xfrm>
            <a:off x="4974336" y="1737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NestJS</a:t>
            </a:r>
            <a:endParaRPr lang="en-US" sz="1200" dirty="0"/>
          </a:p>
        </p:txBody>
      </p:sp>
      <p:sp>
        <p:nvSpPr>
          <p:cNvPr id="271" name="Text 269"/>
          <p:cNvSpPr/>
          <p:nvPr/>
        </p:nvSpPr>
        <p:spPr>
          <a:xfrm>
            <a:off x="4974336" y="21305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JWT guards, RBAC decorators, interceptors, module DI.</a:t>
            </a:r>
            <a:endParaRPr lang="en-US" sz="900" dirty="0"/>
          </a:p>
        </p:txBody>
      </p:sp>
      <p:sp>
        <p:nvSpPr>
          <p:cNvPr id="272" name="Shape 270"/>
          <p:cNvSpPr/>
          <p:nvPr/>
        </p:nvSpPr>
        <p:spPr>
          <a:xfrm>
            <a:off x="7086600" y="1417320"/>
            <a:ext cx="2057400" cy="1371600"/>
          </a:xfrm>
          <a:prstGeom prst="rect">
            <a:avLst/>
          </a:prstGeom>
          <a:solidFill>
            <a:srgbClr val="0C1220"/>
          </a:solidFill>
          <a:ln w="12700">
            <a:solidFill>
              <a:srgbClr val="9D6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3" name="Shape 271"/>
          <p:cNvSpPr/>
          <p:nvPr/>
        </p:nvSpPr>
        <p:spPr>
          <a:xfrm>
            <a:off x="7086600" y="1417320"/>
            <a:ext cx="2057400" cy="36576"/>
          </a:xfrm>
          <a:prstGeom prst="rect">
            <a:avLst/>
          </a:prstGeom>
          <a:solidFill>
            <a:srgbClr val="9D6FFF">
              <a:alpha val="70000"/>
            </a:srgbClr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7214616" y="15087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9D6FFF"/>
                </a:solidFill>
              </a:rPr>
              <a:t>AI ORCHESTRATION</a:t>
            </a:r>
            <a:endParaRPr lang="en-US" sz="750" dirty="0"/>
          </a:p>
        </p:txBody>
      </p:sp>
      <p:sp>
        <p:nvSpPr>
          <p:cNvPr id="275" name="Text 273"/>
          <p:cNvSpPr/>
          <p:nvPr/>
        </p:nvSpPr>
        <p:spPr>
          <a:xfrm>
            <a:off x="7214616" y="1737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LangChain + LangGraph</a:t>
            </a:r>
            <a:endParaRPr lang="en-US" sz="1200" dirty="0"/>
          </a:p>
        </p:txBody>
      </p:sp>
      <p:sp>
        <p:nvSpPr>
          <p:cNvPr id="276" name="Text 274"/>
          <p:cNvSpPr/>
          <p:nvPr/>
        </p:nvSpPr>
        <p:spPr>
          <a:xfrm>
            <a:off x="7214616" y="21305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LCEL chains, agent, PGVectorStore, ConversationSummaryMemory.</a:t>
            </a:r>
            <a:endParaRPr lang="en-US" sz="900" dirty="0"/>
          </a:p>
        </p:txBody>
      </p:sp>
      <p:sp>
        <p:nvSpPr>
          <p:cNvPr id="277" name="Shape 275"/>
          <p:cNvSpPr/>
          <p:nvPr/>
        </p:nvSpPr>
        <p:spPr>
          <a:xfrm>
            <a:off x="365760" y="2944368"/>
            <a:ext cx="2057400" cy="1371600"/>
          </a:xfrm>
          <a:prstGeom prst="rect">
            <a:avLst/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8" name="Shape 276"/>
          <p:cNvSpPr/>
          <p:nvPr/>
        </p:nvSpPr>
        <p:spPr>
          <a:xfrm>
            <a:off x="365760" y="2944368"/>
            <a:ext cx="2057400" cy="36576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493776" y="30358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D4FF"/>
                </a:solidFill>
              </a:rPr>
              <a:t>LLM (SWITCHABLE)</a:t>
            </a:r>
            <a:endParaRPr lang="en-US" sz="750" dirty="0"/>
          </a:p>
        </p:txBody>
      </p:sp>
      <p:sp>
        <p:nvSpPr>
          <p:cNvPr id="280" name="Text 278"/>
          <p:cNvSpPr/>
          <p:nvPr/>
        </p:nvSpPr>
        <p:spPr>
          <a:xfrm>
            <a:off x="493776" y="32644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/ GPT / Gemini</a:t>
            </a:r>
            <a:endParaRPr lang="en-US" sz="1200" dirty="0"/>
          </a:p>
        </p:txBody>
      </p:sp>
      <p:sp>
        <p:nvSpPr>
          <p:cNvPr id="281" name="Text 279"/>
          <p:cNvSpPr/>
          <p:nvPr/>
        </p:nvSpPr>
        <p:spPr>
          <a:xfrm>
            <a:off x="493776" y="3657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Active model from DB settings. Switch without restart.</a:t>
            </a:r>
            <a:endParaRPr lang="en-US" sz="900" dirty="0"/>
          </a:p>
        </p:txBody>
      </p:sp>
      <p:sp>
        <p:nvSpPr>
          <p:cNvPr id="282" name="Shape 280"/>
          <p:cNvSpPr/>
          <p:nvPr/>
        </p:nvSpPr>
        <p:spPr>
          <a:xfrm>
            <a:off x="2606040" y="2944368"/>
            <a:ext cx="2057400" cy="1371600"/>
          </a:xfrm>
          <a:prstGeom prst="rect">
            <a:avLst/>
          </a:prstGeom>
          <a:solidFill>
            <a:srgbClr val="0C1220"/>
          </a:solidFill>
          <a:ln w="12700">
            <a:solidFill>
              <a:srgbClr val="00FF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3" name="Shape 281"/>
          <p:cNvSpPr/>
          <p:nvPr/>
        </p:nvSpPr>
        <p:spPr>
          <a:xfrm>
            <a:off x="2606040" y="2944368"/>
            <a:ext cx="2057400" cy="36576"/>
          </a:xfrm>
          <a:prstGeom prst="rect">
            <a:avLst/>
          </a:prstGeom>
          <a:solidFill>
            <a:srgbClr val="00FF9D">
              <a:alpha val="70000"/>
            </a:srgbClr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2734056" y="30358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FF9D"/>
                </a:solidFill>
              </a:rPr>
              <a:t>VECTOR + RELATIONAL DB</a:t>
            </a:r>
            <a:endParaRPr lang="en-US" sz="750" dirty="0"/>
          </a:p>
        </p:txBody>
      </p:sp>
      <p:sp>
        <p:nvSpPr>
          <p:cNvPr id="285" name="Text 283"/>
          <p:cNvSpPr/>
          <p:nvPr/>
        </p:nvSpPr>
        <p:spPr>
          <a:xfrm>
            <a:off x="2734056" y="32644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 + pgvector</a:t>
            </a:r>
            <a:endParaRPr lang="en-US" sz="1200" dirty="0"/>
          </a:p>
        </p:txBody>
      </p:sp>
      <p:sp>
        <p:nvSpPr>
          <p:cNvPr id="286" name="Text 284"/>
          <p:cNvSpPr/>
          <p:nvPr/>
        </p:nvSpPr>
        <p:spPr>
          <a:xfrm>
            <a:off x="2734056" y="3657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One database for data and vectors. HNSW index.</a:t>
            </a:r>
            <a:endParaRPr lang="en-US" sz="900" dirty="0"/>
          </a:p>
        </p:txBody>
      </p:sp>
      <p:sp>
        <p:nvSpPr>
          <p:cNvPr id="287" name="Shape 285"/>
          <p:cNvSpPr/>
          <p:nvPr/>
        </p:nvSpPr>
        <p:spPr>
          <a:xfrm>
            <a:off x="4846320" y="2944368"/>
            <a:ext cx="2057400" cy="1371600"/>
          </a:xfrm>
          <a:prstGeom prst="rect">
            <a:avLst/>
          </a:prstGeom>
          <a:solidFill>
            <a:srgbClr val="0C1220"/>
          </a:solidFill>
          <a:ln w="12700">
            <a:solidFill>
              <a:srgbClr val="FFB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8" name="Shape 286"/>
          <p:cNvSpPr/>
          <p:nvPr/>
        </p:nvSpPr>
        <p:spPr>
          <a:xfrm>
            <a:off x="4846320" y="2944368"/>
            <a:ext cx="2057400" cy="36576"/>
          </a:xfrm>
          <a:prstGeom prst="rect">
            <a:avLst/>
          </a:prstGeom>
          <a:solidFill>
            <a:srgbClr val="FFB740">
              <a:alpha val="70000"/>
            </a:srgbClr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4974336" y="30358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B740"/>
                </a:solidFill>
              </a:rPr>
              <a:t>CACHE + MEMORY</a:t>
            </a:r>
            <a:endParaRPr lang="en-US" sz="750" dirty="0"/>
          </a:p>
        </p:txBody>
      </p:sp>
      <p:sp>
        <p:nvSpPr>
          <p:cNvPr id="290" name="Text 288"/>
          <p:cNvSpPr/>
          <p:nvPr/>
        </p:nvSpPr>
        <p:spPr>
          <a:xfrm>
            <a:off x="4974336" y="32644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Redis</a:t>
            </a:r>
            <a:endParaRPr lang="en-US" sz="1200" dirty="0"/>
          </a:p>
        </p:txBody>
      </p:sp>
      <p:sp>
        <p:nvSpPr>
          <p:cNvPr id="291" name="Text 289"/>
          <p:cNvSpPr/>
          <p:nvPr/>
        </p:nvSpPr>
        <p:spPr>
          <a:xfrm>
            <a:off x="4974336" y="3657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Token quotas, response cache, conversation memory store.</a:t>
            </a:r>
            <a:endParaRPr lang="en-US" sz="900" dirty="0"/>
          </a:p>
        </p:txBody>
      </p:sp>
      <p:sp>
        <p:nvSpPr>
          <p:cNvPr id="292" name="Shape 290"/>
          <p:cNvSpPr/>
          <p:nvPr/>
        </p:nvSpPr>
        <p:spPr>
          <a:xfrm>
            <a:off x="7086600" y="2944368"/>
            <a:ext cx="2057400" cy="1371600"/>
          </a:xfrm>
          <a:prstGeom prst="rect">
            <a:avLst/>
          </a:prstGeom>
          <a:solidFill>
            <a:srgbClr val="0C1220"/>
          </a:solidFill>
          <a:ln w="12700">
            <a:solidFill>
              <a:srgbClr val="00FF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3" name="Shape 291"/>
          <p:cNvSpPr/>
          <p:nvPr/>
        </p:nvSpPr>
        <p:spPr>
          <a:xfrm>
            <a:off x="7086600" y="2944368"/>
            <a:ext cx="2057400" cy="36576"/>
          </a:xfrm>
          <a:prstGeom prst="rect">
            <a:avLst/>
          </a:prstGeom>
          <a:solidFill>
            <a:srgbClr val="00FF9D">
              <a:alpha val="70000"/>
            </a:srgbClr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7214616" y="30358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FF9D"/>
                </a:solidFill>
              </a:rPr>
              <a:t>ORM</a:t>
            </a:r>
            <a:endParaRPr lang="en-US" sz="750" dirty="0"/>
          </a:p>
        </p:txBody>
      </p:sp>
      <p:sp>
        <p:nvSpPr>
          <p:cNvPr id="295" name="Text 293"/>
          <p:cNvSpPr/>
          <p:nvPr/>
        </p:nvSpPr>
        <p:spPr>
          <a:xfrm>
            <a:off x="7214616" y="32644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Prisma</a:t>
            </a:r>
            <a:endParaRPr lang="en-US" sz="1200" dirty="0"/>
          </a:p>
        </p:txBody>
      </p:sp>
      <p:sp>
        <p:nvSpPr>
          <p:cNvPr id="296" name="Text 294"/>
          <p:cNvSpPr/>
          <p:nvPr/>
        </p:nvSpPr>
        <p:spPr>
          <a:xfrm>
            <a:off x="7214616" y="3657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Type-safe queries, migrations, pgvector support, Studio UI.</a:t>
            </a:r>
            <a:endParaRPr lang="en-US" sz="900" dirty="0"/>
          </a:p>
        </p:txBody>
      </p:sp>
      <p:sp>
        <p:nvSpPr>
          <p:cNvPr id="297" name="Text 295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782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1673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1673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1673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1673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1673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1673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1673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1673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1673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1673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1673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1673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5564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5564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5564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5564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5564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5564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5564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5564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75564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5564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5564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5564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9456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9456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9456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9456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9456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9456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9456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9456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9456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9456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19456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9456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3347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3347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3347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63347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3347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3347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63347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3347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63347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63347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63347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63347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07238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07238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07238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7238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07238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07238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7238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7238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07238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07238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07238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07238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51129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51129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51129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51129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51129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1129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1129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1129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1129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51129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1129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51129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95020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95020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95020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95020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95020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95020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95020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95020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95020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5020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95020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5020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38912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38912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38912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38912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38912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8912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2803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2803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2803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2803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2803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2803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2803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2803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2803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82803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82803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82803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26694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6694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26694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26694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26694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26694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26694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26694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26694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26694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26694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26694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70585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70585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70585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70585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70585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70585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70585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70585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70585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70585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70585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70585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14476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14476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14476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14476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14476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14476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14476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14476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14476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14476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14476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14476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58368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58368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58368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58368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58368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58368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58368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58368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58368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58368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58368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58368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02259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02259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02259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02259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02259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02259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2259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2259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02259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02259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02259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02259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6150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6150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6150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6150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6150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6150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46150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46150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46150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46150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46150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46150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041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041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041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041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041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041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041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041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90041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90041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90041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90041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33932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33932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33932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33932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33932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33932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33932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33932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33932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33932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33932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33932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77824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77824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77824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77824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77824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77824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77824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77824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77824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77824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77824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77824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2286000" y="-457200"/>
            <a:ext cx="4572000" cy="3657600"/>
          </a:xfrm>
          <a:prstGeom prst="ellipse">
            <a:avLst/>
          </a:prstGeom>
          <a:solidFill>
            <a:srgbClr val="001520"/>
          </a:solidFill>
          <a:ln w="12700">
            <a:solidFill>
              <a:srgbClr val="002030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3383280" y="201168"/>
            <a:ext cx="1440180" cy="256032"/>
          </a:xfrm>
          <a:prstGeom prst="roundRect">
            <a:avLst>
              <a:gd name="adj" fmla="val 50000"/>
            </a:avLst>
          </a:prstGeom>
          <a:solidFill>
            <a:srgbClr val="0C1220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3383280" y="201168"/>
            <a:ext cx="1440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00FF9D"/>
                </a:solidFill>
              </a:rPr>
              <a:t>READY TO DEPLOY</a:t>
            </a:r>
            <a:endParaRPr lang="en-US" sz="750" dirty="0"/>
          </a:p>
        </p:txBody>
      </p:sp>
      <p:sp>
        <p:nvSpPr>
          <p:cNvPr id="257" name="Text 255"/>
          <p:cNvSpPr/>
          <p:nvPr/>
        </p:nvSpPr>
        <p:spPr>
          <a:xfrm>
            <a:off x="457200" y="502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must-iq</a:t>
            </a:r>
            <a:endParaRPr lang="en-US" sz="6400" dirty="0"/>
          </a:p>
        </p:txBody>
      </p:sp>
      <p:sp>
        <p:nvSpPr>
          <p:cNvPr id="258" name="Shape 256"/>
          <p:cNvSpPr/>
          <p:nvPr/>
        </p:nvSpPr>
        <p:spPr>
          <a:xfrm>
            <a:off x="3291840" y="1600200"/>
            <a:ext cx="2560320" cy="13716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502920" y="1828800"/>
            <a:ext cx="1828800" cy="1828800"/>
          </a:xfrm>
          <a:prstGeom prst="rect">
            <a:avLst/>
          </a:prstGeom>
          <a:solidFill>
            <a:srgbClr val="0C1220"/>
          </a:solidFill>
          <a:ln w="12700">
            <a:solidFill>
              <a:srgbClr val="1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0" name="Shape 258"/>
          <p:cNvSpPr/>
          <p:nvPr/>
        </p:nvSpPr>
        <p:spPr>
          <a:xfrm>
            <a:off x="1188720" y="1938528"/>
            <a:ext cx="457200" cy="457200"/>
          </a:xfrm>
          <a:prstGeom prst="ellipse">
            <a:avLst/>
          </a:prstGeom>
          <a:solidFill>
            <a:srgbClr val="04060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118872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1</a:t>
            </a:r>
            <a:endParaRPr lang="en-US" sz="1400" dirty="0"/>
          </a:p>
        </p:txBody>
      </p:sp>
      <p:sp>
        <p:nvSpPr>
          <p:cNvPr id="262" name="Text 260"/>
          <p:cNvSpPr/>
          <p:nvPr/>
        </p:nvSpPr>
        <p:spPr>
          <a:xfrm>
            <a:off x="594360" y="24871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</a:t>
            </a:r>
            <a:endParaRPr lang="en-US" sz="1300" dirty="0"/>
          </a:p>
        </p:txBody>
      </p:sp>
      <p:sp>
        <p:nvSpPr>
          <p:cNvPr id="263" name="Text 261"/>
          <p:cNvSpPr/>
          <p:nvPr/>
        </p:nvSpPr>
        <p:spPr>
          <a:xfrm>
            <a:off x="594360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Extract tar.gz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npm install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npm install -g nx</a:t>
            </a:r>
            <a:endParaRPr lang="en-US" sz="950" dirty="0"/>
          </a:p>
        </p:txBody>
      </p:sp>
      <p:sp>
        <p:nvSpPr>
          <p:cNvPr id="264" name="Shape 262"/>
          <p:cNvSpPr/>
          <p:nvPr/>
        </p:nvSpPr>
        <p:spPr>
          <a:xfrm>
            <a:off x="2606040" y="1828800"/>
            <a:ext cx="1828800" cy="1828800"/>
          </a:xfrm>
          <a:prstGeom prst="rect">
            <a:avLst/>
          </a:prstGeom>
          <a:solidFill>
            <a:srgbClr val="0C1220"/>
          </a:solidFill>
          <a:ln w="12700">
            <a:solidFill>
              <a:srgbClr val="1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5" name="Shape 263"/>
          <p:cNvSpPr/>
          <p:nvPr/>
        </p:nvSpPr>
        <p:spPr>
          <a:xfrm>
            <a:off x="3291840" y="1938528"/>
            <a:ext cx="457200" cy="457200"/>
          </a:xfrm>
          <a:prstGeom prst="ellipse">
            <a:avLst/>
          </a:prstGeom>
          <a:solidFill>
            <a:srgbClr val="04060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329184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2</a:t>
            </a:r>
            <a:endParaRPr lang="en-US" sz="1400" dirty="0"/>
          </a:p>
        </p:txBody>
      </p:sp>
      <p:sp>
        <p:nvSpPr>
          <p:cNvPr id="267" name="Text 265"/>
          <p:cNvSpPr/>
          <p:nvPr/>
        </p:nvSpPr>
        <p:spPr>
          <a:xfrm>
            <a:off x="2697480" y="24871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Configure</a:t>
            </a:r>
            <a:endParaRPr lang="en-US" sz="1300" dirty="0"/>
          </a:p>
        </p:txBody>
      </p:sp>
      <p:sp>
        <p:nvSpPr>
          <p:cNvPr id="268" name="Text 266"/>
          <p:cNvSpPr/>
          <p:nvPr/>
        </p:nvSpPr>
        <p:spPr>
          <a:xfrm>
            <a:off x="2697480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Copy .env.example → .env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Add API keys + JWT secret</a:t>
            </a:r>
            <a:endParaRPr lang="en-US" sz="950" dirty="0"/>
          </a:p>
        </p:txBody>
      </p:sp>
      <p:sp>
        <p:nvSpPr>
          <p:cNvPr id="269" name="Shape 267"/>
          <p:cNvSpPr/>
          <p:nvPr/>
        </p:nvSpPr>
        <p:spPr>
          <a:xfrm>
            <a:off x="4709160" y="1828800"/>
            <a:ext cx="1828800" cy="1828800"/>
          </a:xfrm>
          <a:prstGeom prst="rect">
            <a:avLst/>
          </a:prstGeom>
          <a:solidFill>
            <a:srgbClr val="0C1220"/>
          </a:solidFill>
          <a:ln w="12700">
            <a:solidFill>
              <a:srgbClr val="1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0" name="Shape 268"/>
          <p:cNvSpPr/>
          <p:nvPr/>
        </p:nvSpPr>
        <p:spPr>
          <a:xfrm>
            <a:off x="5394960" y="1938528"/>
            <a:ext cx="457200" cy="457200"/>
          </a:xfrm>
          <a:prstGeom prst="ellipse">
            <a:avLst/>
          </a:prstGeom>
          <a:solidFill>
            <a:srgbClr val="04060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539496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3</a:t>
            </a:r>
            <a:endParaRPr lang="en-US" sz="1400" dirty="0"/>
          </a:p>
        </p:txBody>
      </p:sp>
      <p:sp>
        <p:nvSpPr>
          <p:cNvPr id="272" name="Text 270"/>
          <p:cNvSpPr/>
          <p:nvPr/>
        </p:nvSpPr>
        <p:spPr>
          <a:xfrm>
            <a:off x="4800600" y="24871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</a:t>
            </a:r>
            <a:endParaRPr lang="en-US" sz="1300" dirty="0"/>
          </a:p>
        </p:txBody>
      </p:sp>
      <p:sp>
        <p:nvSpPr>
          <p:cNvPr id="273" name="Text 271"/>
          <p:cNvSpPr/>
          <p:nvPr/>
        </p:nvSpPr>
        <p:spPr>
          <a:xfrm>
            <a:off x="4800600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docker-compose up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nx run db:migrate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nx run-many --target=dev</a:t>
            </a:r>
            <a:endParaRPr lang="en-US" sz="950" dirty="0"/>
          </a:p>
        </p:txBody>
      </p:sp>
      <p:sp>
        <p:nvSpPr>
          <p:cNvPr id="274" name="Shape 272"/>
          <p:cNvSpPr/>
          <p:nvPr/>
        </p:nvSpPr>
        <p:spPr>
          <a:xfrm>
            <a:off x="6812280" y="1828800"/>
            <a:ext cx="1828800" cy="1828800"/>
          </a:xfrm>
          <a:prstGeom prst="rect">
            <a:avLst/>
          </a:prstGeom>
          <a:solidFill>
            <a:srgbClr val="0C1220"/>
          </a:solidFill>
          <a:ln w="12700">
            <a:solidFill>
              <a:srgbClr val="1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5" name="Shape 273"/>
          <p:cNvSpPr/>
          <p:nvPr/>
        </p:nvSpPr>
        <p:spPr>
          <a:xfrm>
            <a:off x="7498080" y="1938528"/>
            <a:ext cx="457200" cy="457200"/>
          </a:xfrm>
          <a:prstGeom prst="ellipse">
            <a:avLst/>
          </a:prstGeom>
          <a:solidFill>
            <a:srgbClr val="04060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749808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4</a:t>
            </a:r>
            <a:endParaRPr lang="en-US" sz="1400" dirty="0"/>
          </a:p>
        </p:txBody>
      </p:sp>
      <p:sp>
        <p:nvSpPr>
          <p:cNvPr id="277" name="Text 275"/>
          <p:cNvSpPr/>
          <p:nvPr/>
        </p:nvSpPr>
        <p:spPr>
          <a:xfrm>
            <a:off x="6903720" y="24871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300" dirty="0"/>
          </a:p>
        </p:txBody>
      </p:sp>
      <p:sp>
        <p:nvSpPr>
          <p:cNvPr id="278" name="Text 276"/>
          <p:cNvSpPr/>
          <p:nvPr/>
        </p:nvSpPr>
        <p:spPr>
          <a:xfrm>
            <a:off x="6903720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Upload HR, IT, Finance docs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via ingest CLI into pgvector</a:t>
            </a:r>
            <a:endParaRPr lang="en-US" sz="950" dirty="0"/>
          </a:p>
        </p:txBody>
      </p:sp>
      <p:sp>
        <p:nvSpPr>
          <p:cNvPr id="279" name="Shape 277"/>
          <p:cNvSpPr/>
          <p:nvPr/>
        </p:nvSpPr>
        <p:spPr>
          <a:xfrm>
            <a:off x="365760" y="3840480"/>
            <a:ext cx="8412480" cy="502920"/>
          </a:xfrm>
          <a:prstGeom prst="rect">
            <a:avLst/>
          </a:prstGeom>
          <a:solidFill>
            <a:srgbClr val="080D1A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365760" y="38404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FF"/>
                </a:solidFill>
              </a:rPr>
              <a:t>must-iq.tar.gz  </a:t>
            </a:r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·  45 files  ·  Nx workspace  ·  LangChain  ·  pgvector  ·  Must Company 2025</a:t>
            </a:r>
            <a:endParaRPr lang="en-US" sz="1050" dirty="0"/>
          </a:p>
        </p:txBody>
      </p:sp>
      <p:sp>
        <p:nvSpPr>
          <p:cNvPr id="281" name="Text 279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10 / 10</a:t>
            </a:r>
            <a:endParaRPr lang="en-US" sz="850" dirty="0"/>
          </a:p>
        </p:txBody>
      </p:sp>
      <p:sp>
        <p:nvSpPr>
          <p:cNvPr id="282" name="Text 280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04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782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1673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1673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1673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1673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1673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1673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1673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1673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1673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1673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1673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1673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5564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5564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5564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5564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5564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5564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5564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5564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75564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5564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5564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5564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9456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9456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9456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9456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9456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9456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9456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9456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9456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9456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19456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9456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3347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3347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3347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63347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3347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3347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63347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3347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63347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63347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63347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63347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07238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07238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07238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7238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07238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07238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7238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7238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07238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07238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07238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07238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51129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51129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51129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51129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51129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1129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1129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1129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1129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51129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1129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51129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95020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95020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95020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95020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95020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95020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95020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95020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95020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5020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95020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5020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38912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38912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38912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38912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38912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8912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2803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2803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2803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2803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2803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2803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2803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2803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2803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82803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82803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82803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26694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6694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26694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26694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26694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26694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26694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26694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26694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26694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26694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26694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70585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70585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70585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70585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70585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70585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70585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70585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70585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70585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70585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70585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14476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14476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14476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14476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14476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14476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14476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14476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14476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14476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14476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14476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58368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58368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58368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58368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58368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58368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58368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58368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58368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58368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58368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58368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02259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02259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02259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02259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02259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02259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2259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2259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02259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02259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02259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02259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6150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6150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6150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6150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6150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6150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46150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46150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46150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46150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46150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46150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041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041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041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041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041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041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041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041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90041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90041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90041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90041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33932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33932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33932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33932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33932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33932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33932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33932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33932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33932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33932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33932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77824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77824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77824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77824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77824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77824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77824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77824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77824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77824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77824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77824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50292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B740"/>
                </a:solidFill>
              </a:rPr>
              <a:t>PROJECT KNOWLEDGE</a:t>
            </a:r>
            <a:endParaRPr lang="en-US" sz="800" dirty="0"/>
          </a:p>
        </p:txBody>
      </p:sp>
      <p:sp>
        <p:nvSpPr>
          <p:cNvPr id="255" name="Text 253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Hidden Productivity Problem</a:t>
            </a:r>
            <a:endParaRPr lang="en-US" sz="3200" dirty="0"/>
          </a:p>
        </p:txBody>
      </p:sp>
      <p:sp>
        <p:nvSpPr>
          <p:cNvPr id="256" name="Text 254"/>
          <p:cNvSpPr/>
          <p:nvPr/>
        </p:nvSpPr>
        <p:spPr>
          <a:xfrm>
            <a:off x="502920" y="111556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Teams don't know each other's projects — leaders pay the price</a:t>
            </a:r>
            <a:endParaRPr lang="en-US" sz="1200" dirty="0"/>
          </a:p>
        </p:txBody>
      </p:sp>
      <p:sp>
        <p:nvSpPr>
          <p:cNvPr id="257" name="Shape 255"/>
          <p:cNvSpPr/>
          <p:nvPr/>
        </p:nvSpPr>
        <p:spPr>
          <a:xfrm>
            <a:off x="365760" y="1417320"/>
            <a:ext cx="2743200" cy="3566160"/>
          </a:xfrm>
          <a:prstGeom prst="rect">
            <a:avLst/>
          </a:prstGeom>
          <a:solidFill>
            <a:srgbClr val="0A0E18"/>
          </a:solidFill>
          <a:ln w="12700">
            <a:solidFill>
              <a:srgbClr val="FFB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8" name="Shape 256"/>
          <p:cNvSpPr/>
          <p:nvPr/>
        </p:nvSpPr>
        <p:spPr>
          <a:xfrm>
            <a:off x="365760" y="1417320"/>
            <a:ext cx="2743200" cy="36576"/>
          </a:xfrm>
          <a:prstGeom prst="rect">
            <a:avLst/>
          </a:prstGeom>
          <a:solidFill>
            <a:srgbClr val="FFB740">
              <a:alpha val="70000"/>
            </a:srgbClr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365760" y="17373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B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~40%</a:t>
            </a:r>
            <a:endParaRPr lang="en-US" sz="5200" dirty="0"/>
          </a:p>
        </p:txBody>
      </p:sp>
      <p:sp>
        <p:nvSpPr>
          <p:cNvPr id="260" name="Text 258"/>
          <p:cNvSpPr/>
          <p:nvPr/>
        </p:nvSpPr>
        <p:spPr>
          <a:xfrm>
            <a:off x="502920" y="2633472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D4E8"/>
                </a:solidFill>
              </a:rPr>
              <a:t>of interruptions in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8D4E8"/>
                </a:solidFill>
              </a:rPr>
              <a:t>technology teams are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8D4E8"/>
                </a:solidFill>
              </a:rPr>
              <a:t>repeat questions about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8D4E8"/>
                </a:solidFill>
              </a:rPr>
              <a:t>existing projects</a:t>
            </a:r>
            <a:endParaRPr lang="en-US" sz="1150" dirty="0"/>
          </a:p>
        </p:txBody>
      </p:sp>
      <p:sp>
        <p:nvSpPr>
          <p:cNvPr id="261" name="Text 259"/>
          <p:cNvSpPr/>
          <p:nvPr/>
        </p:nvSpPr>
        <p:spPr>
          <a:xfrm>
            <a:off x="502920" y="4389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A5568"/>
                </a:solidFill>
              </a:rPr>
              <a:t>Source: internal estimate</a:t>
            </a:r>
            <a:endParaRPr lang="en-US" sz="850" dirty="0"/>
          </a:p>
        </p:txBody>
      </p:sp>
      <p:sp>
        <p:nvSpPr>
          <p:cNvPr id="262" name="Shape 260"/>
          <p:cNvSpPr/>
          <p:nvPr/>
        </p:nvSpPr>
        <p:spPr>
          <a:xfrm>
            <a:off x="3291840" y="1417320"/>
            <a:ext cx="5486400" cy="777240"/>
          </a:xfrm>
          <a:prstGeom prst="rect">
            <a:avLst/>
          </a:prstGeom>
          <a:solidFill>
            <a:srgbClr val="0C1220"/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3" name="Shape 261"/>
          <p:cNvSpPr/>
          <p:nvPr/>
        </p:nvSpPr>
        <p:spPr>
          <a:xfrm>
            <a:off x="3291840" y="1417320"/>
            <a:ext cx="45720" cy="77724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3401568" y="1581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😤</a:t>
            </a:r>
            <a:endParaRPr lang="en-US" sz="2000" dirty="0"/>
          </a:p>
        </p:txBody>
      </p:sp>
      <p:sp>
        <p:nvSpPr>
          <p:cNvPr id="265" name="Text 263"/>
          <p:cNvSpPr/>
          <p:nvPr/>
        </p:nvSpPr>
        <p:spPr>
          <a:xfrm>
            <a:off x="3858768" y="15087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6FF"/>
                </a:solidFill>
              </a:rPr>
              <a:t>Leaders constantly interrupted</a:t>
            </a:r>
            <a:endParaRPr lang="en-US" sz="1150" dirty="0"/>
          </a:p>
        </p:txBody>
      </p:sp>
      <p:sp>
        <p:nvSpPr>
          <p:cNvPr id="266" name="Text 264"/>
          <p:cNvSpPr/>
          <p:nvPr/>
        </p:nvSpPr>
        <p:spPr>
          <a:xfrm>
            <a:off x="3858768" y="180136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Team leads and PMs answer the same questions repeatedly instead of doing deep work.</a:t>
            </a:r>
            <a:endParaRPr lang="en-US" sz="950" dirty="0"/>
          </a:p>
        </p:txBody>
      </p:sp>
      <p:sp>
        <p:nvSpPr>
          <p:cNvPr id="267" name="Shape 265"/>
          <p:cNvSpPr/>
          <p:nvPr/>
        </p:nvSpPr>
        <p:spPr>
          <a:xfrm>
            <a:off x="3291840" y="2313432"/>
            <a:ext cx="5486400" cy="777240"/>
          </a:xfrm>
          <a:prstGeom prst="rect">
            <a:avLst/>
          </a:prstGeom>
          <a:solidFill>
            <a:srgbClr val="0C1220"/>
          </a:solidFill>
          <a:ln w="12700">
            <a:solidFill>
              <a:srgbClr val="FFB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8" name="Shape 266"/>
          <p:cNvSpPr/>
          <p:nvPr/>
        </p:nvSpPr>
        <p:spPr>
          <a:xfrm>
            <a:off x="3291840" y="2313432"/>
            <a:ext cx="45720" cy="777240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3401568" y="24780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🤷</a:t>
            </a:r>
            <a:endParaRPr lang="en-US" sz="2000" dirty="0"/>
          </a:p>
        </p:txBody>
      </p:sp>
      <p:sp>
        <p:nvSpPr>
          <p:cNvPr id="270" name="Text 268"/>
          <p:cNvSpPr/>
          <p:nvPr/>
        </p:nvSpPr>
        <p:spPr>
          <a:xfrm>
            <a:off x="3858768" y="240487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6FF"/>
                </a:solidFill>
              </a:rPr>
              <a:t>New joiners lost for weeks</a:t>
            </a:r>
            <a:endParaRPr lang="en-US" sz="1150" dirty="0"/>
          </a:p>
        </p:txBody>
      </p:sp>
      <p:sp>
        <p:nvSpPr>
          <p:cNvPr id="271" name="Text 269"/>
          <p:cNvSpPr/>
          <p:nvPr/>
        </p:nvSpPr>
        <p:spPr>
          <a:xfrm>
            <a:off x="3858768" y="26974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No central place to learn what projects exist, their status, owners, or tech stack.</a:t>
            </a:r>
            <a:endParaRPr lang="en-US" sz="950" dirty="0"/>
          </a:p>
        </p:txBody>
      </p:sp>
      <p:sp>
        <p:nvSpPr>
          <p:cNvPr id="272" name="Shape 270"/>
          <p:cNvSpPr/>
          <p:nvPr/>
        </p:nvSpPr>
        <p:spPr>
          <a:xfrm>
            <a:off x="3291840" y="3209544"/>
            <a:ext cx="5486400" cy="777240"/>
          </a:xfrm>
          <a:prstGeom prst="rect">
            <a:avLst/>
          </a:prstGeom>
          <a:solidFill>
            <a:srgbClr val="0C1220"/>
          </a:solidFill>
          <a:ln w="12700">
            <a:solidFill>
              <a:srgbClr val="9D6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3" name="Shape 271"/>
          <p:cNvSpPr/>
          <p:nvPr/>
        </p:nvSpPr>
        <p:spPr>
          <a:xfrm>
            <a:off x="3291840" y="3209544"/>
            <a:ext cx="45720" cy="777240"/>
          </a:xfrm>
          <a:prstGeom prst="rect">
            <a:avLst/>
          </a:prstGeom>
          <a:solidFill>
            <a:srgbClr val="9D6FFF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3401568" y="33741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275" name="Text 273"/>
          <p:cNvSpPr/>
          <p:nvPr/>
        </p:nvSpPr>
        <p:spPr>
          <a:xfrm>
            <a:off x="3858768" y="330098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6FF"/>
                </a:solidFill>
              </a:rPr>
              <a:t>Duplicate work across teams</a:t>
            </a:r>
            <a:endParaRPr lang="en-US" sz="1150" dirty="0"/>
          </a:p>
        </p:txBody>
      </p:sp>
      <p:sp>
        <p:nvSpPr>
          <p:cNvPr id="276" name="Text 274"/>
          <p:cNvSpPr/>
          <p:nvPr/>
        </p:nvSpPr>
        <p:spPr>
          <a:xfrm>
            <a:off x="3858768" y="359359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Teams build similar things because they don't know another team already solved it.</a:t>
            </a:r>
            <a:endParaRPr lang="en-US" sz="950" dirty="0"/>
          </a:p>
        </p:txBody>
      </p:sp>
      <p:sp>
        <p:nvSpPr>
          <p:cNvPr id="277" name="Shape 275"/>
          <p:cNvSpPr/>
          <p:nvPr/>
        </p:nvSpPr>
        <p:spPr>
          <a:xfrm>
            <a:off x="3291840" y="4105656"/>
            <a:ext cx="5486400" cy="777240"/>
          </a:xfrm>
          <a:prstGeom prst="rect">
            <a:avLst/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8" name="Shape 276"/>
          <p:cNvSpPr/>
          <p:nvPr/>
        </p:nvSpPr>
        <p:spPr>
          <a:xfrm>
            <a:off x="3291840" y="4105656"/>
            <a:ext cx="45720" cy="777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3401568" y="4270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80" name="Text 278"/>
          <p:cNvSpPr/>
          <p:nvPr/>
        </p:nvSpPr>
        <p:spPr>
          <a:xfrm>
            <a:off x="3858768" y="4197096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6FF"/>
                </a:solidFill>
              </a:rPr>
              <a:t>Slack flooded with basic questions</a:t>
            </a:r>
            <a:endParaRPr lang="en-US" sz="1150" dirty="0"/>
          </a:p>
        </p:txBody>
      </p:sp>
      <p:sp>
        <p:nvSpPr>
          <p:cNvPr id="281" name="Text 279"/>
          <p:cNvSpPr/>
          <p:nvPr/>
        </p:nvSpPr>
        <p:spPr>
          <a:xfrm>
            <a:off x="3858768" y="4489704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"Where is the repo?", "Who owns the API?", "What does service X do?" — repeated daily.</a:t>
            </a:r>
            <a:endParaRPr lang="en-US" sz="950" dirty="0"/>
          </a:p>
        </p:txBody>
      </p:sp>
      <p:sp>
        <p:nvSpPr>
          <p:cNvPr id="282" name="Text 280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04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782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1673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1673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1673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1673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1673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1673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1673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1673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1673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1673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1673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1673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5564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5564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5564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5564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5564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5564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5564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5564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75564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5564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5564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5564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9456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9456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9456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9456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9456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9456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9456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9456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9456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9456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19456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9456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3347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3347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3347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63347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3347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3347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63347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3347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63347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63347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63347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63347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07238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07238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07238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7238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07238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07238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7238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7238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07238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07238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07238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07238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51129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51129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51129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51129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51129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1129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1129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1129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1129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51129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1129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51129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95020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95020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95020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95020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95020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95020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95020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95020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95020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5020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95020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5020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38912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38912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38912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38912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38912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8912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2803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2803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2803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2803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2803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2803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2803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2803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2803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82803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82803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82803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26694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6694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26694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26694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26694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26694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26694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26694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26694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26694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26694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26694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70585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70585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70585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70585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70585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70585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70585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70585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70585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70585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70585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70585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14476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14476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14476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14476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14476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14476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14476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14476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14476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14476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14476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14476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58368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58368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58368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58368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58368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58368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58368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58368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58368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58368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58368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58368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02259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02259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02259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02259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02259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02259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2259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2259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02259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02259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02259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02259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6150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6150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6150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6150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6150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6150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46150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46150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46150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46150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46150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46150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041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041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041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041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041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041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041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041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90041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90041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90041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90041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33932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33932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33932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33932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33932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33932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33932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33932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33932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33932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33932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33932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77824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77824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77824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77824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77824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77824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77824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77824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77824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77824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77824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77824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50292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00FF9D"/>
                </a:solidFill>
              </a:rPr>
              <a:t>PROJECT KNOWLEDGE BASE</a:t>
            </a:r>
            <a:endParaRPr lang="en-US" sz="800" dirty="0"/>
          </a:p>
        </p:txBody>
      </p:sp>
      <p:sp>
        <p:nvSpPr>
          <p:cNvPr id="255" name="Text 253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Question Builds the Knowledge Base</a:t>
            </a:r>
            <a:endParaRPr lang="en-US" sz="3200" dirty="0"/>
          </a:p>
        </p:txBody>
      </p:sp>
      <p:sp>
        <p:nvSpPr>
          <p:cNvPr id="256" name="Text 254"/>
          <p:cNvSpPr/>
          <p:nvPr/>
        </p:nvSpPr>
        <p:spPr>
          <a:xfrm>
            <a:off x="502920" y="111556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Must-IQ intercepts chats, learns from answers, surfaces context automatically</a:t>
            </a:r>
            <a:endParaRPr lang="en-US" sz="1200" dirty="0"/>
          </a:p>
        </p:txBody>
      </p:sp>
      <p:sp>
        <p:nvSpPr>
          <p:cNvPr id="257" name="Shape 255"/>
          <p:cNvSpPr/>
          <p:nvPr/>
        </p:nvSpPr>
        <p:spPr>
          <a:xfrm>
            <a:off x="365760" y="1417320"/>
            <a:ext cx="1417320" cy="1188720"/>
          </a:xfrm>
          <a:prstGeom prst="rect">
            <a:avLst/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8" name="Shape 256"/>
          <p:cNvSpPr/>
          <p:nvPr/>
        </p:nvSpPr>
        <p:spPr>
          <a:xfrm>
            <a:off x="365760" y="1417320"/>
            <a:ext cx="1417320" cy="36576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365760" y="1536192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260" name="Text 258"/>
          <p:cNvSpPr/>
          <p:nvPr/>
        </p:nvSpPr>
        <p:spPr>
          <a:xfrm>
            <a:off x="438912" y="1993392"/>
            <a:ext cx="1271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4E8"/>
                </a:solidFill>
              </a:rPr>
              <a:t>Employee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4E8"/>
                </a:solidFill>
              </a:rPr>
              <a:t>Asks a Question</a:t>
            </a:r>
            <a:endParaRPr lang="en-US" sz="950" dirty="0"/>
          </a:p>
        </p:txBody>
      </p:sp>
      <p:sp>
        <p:nvSpPr>
          <p:cNvPr id="261" name="Text 259"/>
          <p:cNvSpPr/>
          <p:nvPr/>
        </p:nvSpPr>
        <p:spPr>
          <a:xfrm>
            <a:off x="1801368" y="17830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568"/>
                </a:solidFill>
              </a:rPr>
              <a:t>→</a:t>
            </a:r>
            <a:endParaRPr lang="en-US" sz="1400" dirty="0"/>
          </a:p>
        </p:txBody>
      </p:sp>
      <p:sp>
        <p:nvSpPr>
          <p:cNvPr id="262" name="Shape 260"/>
          <p:cNvSpPr/>
          <p:nvPr/>
        </p:nvSpPr>
        <p:spPr>
          <a:xfrm>
            <a:off x="1947672" y="1417320"/>
            <a:ext cx="1417320" cy="1188720"/>
          </a:xfrm>
          <a:prstGeom prst="rect">
            <a:avLst/>
          </a:prstGeom>
          <a:solidFill>
            <a:srgbClr val="0C1220"/>
          </a:solidFill>
          <a:ln w="12700">
            <a:solidFill>
              <a:srgbClr val="9D6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3" name="Shape 261"/>
          <p:cNvSpPr/>
          <p:nvPr/>
        </p:nvSpPr>
        <p:spPr>
          <a:xfrm>
            <a:off x="1947672" y="1417320"/>
            <a:ext cx="1417320" cy="36576"/>
          </a:xfrm>
          <a:prstGeom prst="rect">
            <a:avLst/>
          </a:prstGeom>
          <a:solidFill>
            <a:srgbClr val="9D6FFF">
              <a:alpha val="70000"/>
            </a:srgbClr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1947672" y="1536192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65" name="Text 263"/>
          <p:cNvSpPr/>
          <p:nvPr/>
        </p:nvSpPr>
        <p:spPr>
          <a:xfrm>
            <a:off x="2020824" y="1993392"/>
            <a:ext cx="1271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4E8"/>
                </a:solidFill>
              </a:rPr>
              <a:t>Must-IQ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4E8"/>
                </a:solidFill>
              </a:rPr>
              <a:t>Searches Knowledge Base</a:t>
            </a:r>
            <a:endParaRPr lang="en-US" sz="950" dirty="0"/>
          </a:p>
        </p:txBody>
      </p:sp>
      <p:sp>
        <p:nvSpPr>
          <p:cNvPr id="266" name="Text 264"/>
          <p:cNvSpPr/>
          <p:nvPr/>
        </p:nvSpPr>
        <p:spPr>
          <a:xfrm>
            <a:off x="3383280" y="17830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568"/>
                </a:solidFill>
              </a:rPr>
              <a:t>→</a:t>
            </a:r>
            <a:endParaRPr lang="en-US" sz="1400" dirty="0"/>
          </a:p>
        </p:txBody>
      </p:sp>
      <p:sp>
        <p:nvSpPr>
          <p:cNvPr id="267" name="Shape 265"/>
          <p:cNvSpPr/>
          <p:nvPr/>
        </p:nvSpPr>
        <p:spPr>
          <a:xfrm>
            <a:off x="3529584" y="1417320"/>
            <a:ext cx="1417320" cy="1188720"/>
          </a:xfrm>
          <a:prstGeom prst="rect">
            <a:avLst/>
          </a:prstGeom>
          <a:solidFill>
            <a:srgbClr val="0C1220"/>
          </a:solidFill>
          <a:ln w="12700">
            <a:solidFill>
              <a:srgbClr val="9D6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8" name="Shape 266"/>
          <p:cNvSpPr/>
          <p:nvPr/>
        </p:nvSpPr>
        <p:spPr>
          <a:xfrm>
            <a:off x="3529584" y="1417320"/>
            <a:ext cx="1417320" cy="36576"/>
          </a:xfrm>
          <a:prstGeom prst="rect">
            <a:avLst/>
          </a:prstGeom>
          <a:solidFill>
            <a:srgbClr val="9D6FFF">
              <a:alpha val="70000"/>
            </a:srgbClr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3529584" y="1536192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270" name="Text 268"/>
          <p:cNvSpPr/>
          <p:nvPr/>
        </p:nvSpPr>
        <p:spPr>
          <a:xfrm>
            <a:off x="3602736" y="1993392"/>
            <a:ext cx="1271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4E8"/>
                </a:solidFill>
              </a:rPr>
              <a:t>LLM Synthesises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4E8"/>
                </a:solidFill>
              </a:rPr>
              <a:t>an Answer</a:t>
            </a:r>
            <a:endParaRPr lang="en-US" sz="950" dirty="0"/>
          </a:p>
        </p:txBody>
      </p:sp>
      <p:sp>
        <p:nvSpPr>
          <p:cNvPr id="271" name="Text 269"/>
          <p:cNvSpPr/>
          <p:nvPr/>
        </p:nvSpPr>
        <p:spPr>
          <a:xfrm>
            <a:off x="4965192" y="17830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568"/>
                </a:solidFill>
              </a:rPr>
              <a:t>→</a:t>
            </a:r>
            <a:endParaRPr lang="en-US" sz="1400" dirty="0"/>
          </a:p>
        </p:txBody>
      </p:sp>
      <p:sp>
        <p:nvSpPr>
          <p:cNvPr id="272" name="Shape 270"/>
          <p:cNvSpPr/>
          <p:nvPr/>
        </p:nvSpPr>
        <p:spPr>
          <a:xfrm>
            <a:off x="5111496" y="1417320"/>
            <a:ext cx="1417320" cy="1188720"/>
          </a:xfrm>
          <a:prstGeom prst="rect">
            <a:avLst/>
          </a:prstGeom>
          <a:solidFill>
            <a:srgbClr val="0C1220"/>
          </a:solidFill>
          <a:ln w="12700">
            <a:solidFill>
              <a:srgbClr val="00FF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3" name="Shape 271"/>
          <p:cNvSpPr/>
          <p:nvPr/>
        </p:nvSpPr>
        <p:spPr>
          <a:xfrm>
            <a:off x="5111496" y="1417320"/>
            <a:ext cx="1417320" cy="36576"/>
          </a:xfrm>
          <a:prstGeom prst="rect">
            <a:avLst/>
          </a:prstGeom>
          <a:solidFill>
            <a:srgbClr val="00FF9D">
              <a:alpha val="70000"/>
            </a:srgbClr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5111496" y="1536192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75" name="Text 273"/>
          <p:cNvSpPr/>
          <p:nvPr/>
        </p:nvSpPr>
        <p:spPr>
          <a:xfrm>
            <a:off x="5184648" y="1993392"/>
            <a:ext cx="1271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4E8"/>
                </a:solidFill>
              </a:rPr>
              <a:t>Employee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4E8"/>
                </a:solidFill>
              </a:rPr>
              <a:t>Gets Answer + Sources</a:t>
            </a:r>
            <a:endParaRPr lang="en-US" sz="950" dirty="0"/>
          </a:p>
        </p:txBody>
      </p:sp>
      <p:sp>
        <p:nvSpPr>
          <p:cNvPr id="276" name="Text 274"/>
          <p:cNvSpPr/>
          <p:nvPr/>
        </p:nvSpPr>
        <p:spPr>
          <a:xfrm>
            <a:off x="6547104" y="17830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568"/>
                </a:solidFill>
              </a:rPr>
              <a:t>→</a:t>
            </a:r>
            <a:endParaRPr lang="en-US" sz="1400" dirty="0"/>
          </a:p>
        </p:txBody>
      </p:sp>
      <p:sp>
        <p:nvSpPr>
          <p:cNvPr id="277" name="Shape 275"/>
          <p:cNvSpPr/>
          <p:nvPr/>
        </p:nvSpPr>
        <p:spPr>
          <a:xfrm>
            <a:off x="6693408" y="1417320"/>
            <a:ext cx="1417320" cy="1188720"/>
          </a:xfrm>
          <a:prstGeom prst="rect">
            <a:avLst/>
          </a:prstGeom>
          <a:solidFill>
            <a:srgbClr val="0C1220"/>
          </a:solidFill>
          <a:ln w="12700">
            <a:solidFill>
              <a:srgbClr val="FFB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8" name="Shape 276"/>
          <p:cNvSpPr/>
          <p:nvPr/>
        </p:nvSpPr>
        <p:spPr>
          <a:xfrm>
            <a:off x="6693408" y="1417320"/>
            <a:ext cx="1417320" cy="36576"/>
          </a:xfrm>
          <a:prstGeom prst="rect">
            <a:avLst/>
          </a:prstGeom>
          <a:solidFill>
            <a:srgbClr val="FFB740">
              <a:alpha val="70000"/>
            </a:srgbClr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6693408" y="1536192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80" name="Text 278"/>
          <p:cNvSpPr/>
          <p:nvPr/>
        </p:nvSpPr>
        <p:spPr>
          <a:xfrm>
            <a:off x="6766560" y="1993392"/>
            <a:ext cx="1271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4E8"/>
                </a:solidFill>
              </a:rPr>
              <a:t>Q&amp;A Saved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4E8"/>
                </a:solidFill>
              </a:rPr>
              <a:t>to Knowledge Base</a:t>
            </a:r>
            <a:endParaRPr lang="en-US" sz="950" dirty="0"/>
          </a:p>
        </p:txBody>
      </p:sp>
      <p:sp>
        <p:nvSpPr>
          <p:cNvPr id="281" name="Text 279"/>
          <p:cNvSpPr/>
          <p:nvPr/>
        </p:nvSpPr>
        <p:spPr>
          <a:xfrm>
            <a:off x="6601968" y="26517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B740"/>
                </a:solidFill>
              </a:rPr>
              <a:t>↑ loop</a:t>
            </a:r>
            <a:endParaRPr lang="en-US" sz="900" dirty="0"/>
          </a:p>
        </p:txBody>
      </p:sp>
      <p:sp>
        <p:nvSpPr>
          <p:cNvPr id="282" name="Shape 280"/>
          <p:cNvSpPr/>
          <p:nvPr/>
        </p:nvSpPr>
        <p:spPr>
          <a:xfrm>
            <a:off x="365760" y="2788920"/>
            <a:ext cx="2743200" cy="2148840"/>
          </a:xfrm>
          <a:prstGeom prst="rect">
            <a:avLst/>
          </a:prstGeom>
          <a:solidFill>
            <a:srgbClr val="0C1220"/>
          </a:solidFill>
          <a:ln w="12700">
            <a:solidFill>
              <a:srgbClr val="00FF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3" name="Shape 281"/>
          <p:cNvSpPr/>
          <p:nvPr/>
        </p:nvSpPr>
        <p:spPr>
          <a:xfrm>
            <a:off x="365760" y="2788920"/>
            <a:ext cx="2743200" cy="36576"/>
          </a:xfrm>
          <a:prstGeom prst="rect">
            <a:avLst/>
          </a:prstGeom>
          <a:solidFill>
            <a:srgbClr val="00FF9D">
              <a:alpha val="70000"/>
            </a:srgbClr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502920" y="28346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</a:rPr>
              <a:t>🗂  Project Directory</a:t>
            </a:r>
            <a:endParaRPr lang="en-US" sz="1200" dirty="0"/>
          </a:p>
        </p:txBody>
      </p:sp>
      <p:sp>
        <p:nvSpPr>
          <p:cNvPr id="285" name="Shape 283"/>
          <p:cNvSpPr/>
          <p:nvPr/>
        </p:nvSpPr>
        <p:spPr>
          <a:xfrm>
            <a:off x="530352" y="3364992"/>
            <a:ext cx="73152" cy="73152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667512" y="3255264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4E8"/>
                </a:solidFill>
              </a:rPr>
              <a:t>"What does Project Atlas do?"</a:t>
            </a:r>
            <a:endParaRPr lang="en-US" sz="950" dirty="0"/>
          </a:p>
        </p:txBody>
      </p:sp>
      <p:sp>
        <p:nvSpPr>
          <p:cNvPr id="287" name="Shape 285"/>
          <p:cNvSpPr/>
          <p:nvPr/>
        </p:nvSpPr>
        <p:spPr>
          <a:xfrm>
            <a:off x="530352" y="3712464"/>
            <a:ext cx="73152" cy="73152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667512" y="360273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4E8"/>
                </a:solidFill>
              </a:rPr>
              <a:t>"Who owns the payments API?"</a:t>
            </a:r>
            <a:endParaRPr lang="en-US" sz="950" dirty="0"/>
          </a:p>
        </p:txBody>
      </p:sp>
      <p:sp>
        <p:nvSpPr>
          <p:cNvPr id="289" name="Shape 287"/>
          <p:cNvSpPr/>
          <p:nvPr/>
        </p:nvSpPr>
        <p:spPr>
          <a:xfrm>
            <a:off x="530352" y="4059936"/>
            <a:ext cx="73152" cy="73152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667512" y="3950208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4E8"/>
                </a:solidFill>
              </a:rPr>
              <a:t>"What's the stack for the mobile app?"</a:t>
            </a:r>
            <a:endParaRPr lang="en-US" sz="950" dirty="0"/>
          </a:p>
        </p:txBody>
      </p:sp>
      <p:sp>
        <p:nvSpPr>
          <p:cNvPr id="291" name="Shape 289"/>
          <p:cNvSpPr/>
          <p:nvPr/>
        </p:nvSpPr>
        <p:spPr>
          <a:xfrm>
            <a:off x="530352" y="4407408"/>
            <a:ext cx="73152" cy="73152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667512" y="4297680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4E8"/>
                </a:solidFill>
              </a:rPr>
              <a:t>"Where is the onboarding service repo?"</a:t>
            </a:r>
            <a:endParaRPr lang="en-US" sz="950" dirty="0"/>
          </a:p>
        </p:txBody>
      </p:sp>
      <p:sp>
        <p:nvSpPr>
          <p:cNvPr id="293" name="Shape 291"/>
          <p:cNvSpPr/>
          <p:nvPr/>
        </p:nvSpPr>
        <p:spPr>
          <a:xfrm>
            <a:off x="365760" y="4645152"/>
            <a:ext cx="2743200" cy="292608"/>
          </a:xfrm>
          <a:prstGeom prst="rect">
            <a:avLst/>
          </a:prstGeom>
          <a:solidFill>
            <a:srgbClr val="080D1A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475488" y="46451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FF9D"/>
                </a:solidFill>
              </a:rPr>
              <a:t>Auto-populated from GitHub + Jira + conversations</a:t>
            </a:r>
            <a:endParaRPr lang="en-US" sz="850" dirty="0"/>
          </a:p>
        </p:txBody>
      </p:sp>
      <p:sp>
        <p:nvSpPr>
          <p:cNvPr id="295" name="Shape 293"/>
          <p:cNvSpPr/>
          <p:nvPr/>
        </p:nvSpPr>
        <p:spPr>
          <a:xfrm>
            <a:off x="3291840" y="2788920"/>
            <a:ext cx="2743200" cy="2148840"/>
          </a:xfrm>
          <a:prstGeom prst="rect">
            <a:avLst/>
          </a:prstGeom>
          <a:solidFill>
            <a:srgbClr val="0C1220"/>
          </a:solidFill>
          <a:ln w="12700">
            <a:solidFill>
              <a:srgbClr val="9D6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6" name="Shape 294"/>
          <p:cNvSpPr/>
          <p:nvPr/>
        </p:nvSpPr>
        <p:spPr>
          <a:xfrm>
            <a:off x="3291840" y="2788920"/>
            <a:ext cx="2743200" cy="36576"/>
          </a:xfrm>
          <a:prstGeom prst="rect">
            <a:avLst/>
          </a:prstGeom>
          <a:solidFill>
            <a:srgbClr val="9D6FFF">
              <a:alpha val="70000"/>
            </a:srgbClr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97" name="Text 295"/>
          <p:cNvSpPr/>
          <p:nvPr/>
        </p:nvSpPr>
        <p:spPr>
          <a:xfrm>
            <a:off x="3429000" y="28346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</a:rPr>
              <a:t>🧩  Cross-Team Discovery</a:t>
            </a:r>
            <a:endParaRPr lang="en-US" sz="1200" dirty="0"/>
          </a:p>
        </p:txBody>
      </p:sp>
      <p:sp>
        <p:nvSpPr>
          <p:cNvPr id="298" name="Shape 296"/>
          <p:cNvSpPr/>
          <p:nvPr/>
        </p:nvSpPr>
        <p:spPr>
          <a:xfrm>
            <a:off x="3456432" y="3364992"/>
            <a:ext cx="73152" cy="73152"/>
          </a:xfrm>
          <a:prstGeom prst="ellipse">
            <a:avLst/>
          </a:prstGeom>
          <a:solidFill>
            <a:srgbClr val="9D6FFF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99" name="Text 297"/>
          <p:cNvSpPr/>
          <p:nvPr/>
        </p:nvSpPr>
        <p:spPr>
          <a:xfrm>
            <a:off x="3593592" y="3255264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4E8"/>
                </a:solidFill>
              </a:rPr>
              <a:t>"Has anyone solved X before?"</a:t>
            </a:r>
            <a:endParaRPr lang="en-US" sz="950" dirty="0"/>
          </a:p>
        </p:txBody>
      </p:sp>
      <p:sp>
        <p:nvSpPr>
          <p:cNvPr id="300" name="Shape 298"/>
          <p:cNvSpPr/>
          <p:nvPr/>
        </p:nvSpPr>
        <p:spPr>
          <a:xfrm>
            <a:off x="3456432" y="3712464"/>
            <a:ext cx="73152" cy="73152"/>
          </a:xfrm>
          <a:prstGeom prst="ellipse">
            <a:avLst/>
          </a:prstGeom>
          <a:solidFill>
            <a:srgbClr val="9D6FFF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3593592" y="360273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4E8"/>
                </a:solidFill>
              </a:rPr>
              <a:t>"Which team works on auth?"</a:t>
            </a:r>
            <a:endParaRPr lang="en-US" sz="950" dirty="0"/>
          </a:p>
        </p:txBody>
      </p:sp>
      <p:sp>
        <p:nvSpPr>
          <p:cNvPr id="302" name="Shape 300"/>
          <p:cNvSpPr/>
          <p:nvPr/>
        </p:nvSpPr>
        <p:spPr>
          <a:xfrm>
            <a:off x="3456432" y="4059936"/>
            <a:ext cx="73152" cy="73152"/>
          </a:xfrm>
          <a:prstGeom prst="ellipse">
            <a:avLst/>
          </a:prstGeom>
          <a:solidFill>
            <a:srgbClr val="9D6FFF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303" name="Text 301"/>
          <p:cNvSpPr/>
          <p:nvPr/>
        </p:nvSpPr>
        <p:spPr>
          <a:xfrm>
            <a:off x="3593592" y="3950208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4E8"/>
                </a:solidFill>
              </a:rPr>
              <a:t>"What's the shared infra status?"</a:t>
            </a:r>
            <a:endParaRPr lang="en-US" sz="950" dirty="0"/>
          </a:p>
        </p:txBody>
      </p:sp>
      <p:sp>
        <p:nvSpPr>
          <p:cNvPr id="304" name="Shape 302"/>
          <p:cNvSpPr/>
          <p:nvPr/>
        </p:nvSpPr>
        <p:spPr>
          <a:xfrm>
            <a:off x="3456432" y="4407408"/>
            <a:ext cx="73152" cy="73152"/>
          </a:xfrm>
          <a:prstGeom prst="ellipse">
            <a:avLst/>
          </a:prstGeom>
          <a:solidFill>
            <a:srgbClr val="9D6FFF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305" name="Text 303"/>
          <p:cNvSpPr/>
          <p:nvPr/>
        </p:nvSpPr>
        <p:spPr>
          <a:xfrm>
            <a:off x="3593592" y="4297680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4E8"/>
                </a:solidFill>
              </a:rPr>
              <a:t>"Who can I talk to about the data pipeline?"</a:t>
            </a:r>
            <a:endParaRPr lang="en-US" sz="950" dirty="0"/>
          </a:p>
        </p:txBody>
      </p:sp>
      <p:sp>
        <p:nvSpPr>
          <p:cNvPr id="306" name="Shape 304"/>
          <p:cNvSpPr/>
          <p:nvPr/>
        </p:nvSpPr>
        <p:spPr>
          <a:xfrm>
            <a:off x="3291840" y="4645152"/>
            <a:ext cx="2743200" cy="292608"/>
          </a:xfrm>
          <a:prstGeom prst="rect">
            <a:avLst/>
          </a:prstGeom>
          <a:solidFill>
            <a:srgbClr val="080D1A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307" name="Text 305"/>
          <p:cNvSpPr/>
          <p:nvPr/>
        </p:nvSpPr>
        <p:spPr>
          <a:xfrm>
            <a:off x="3401568" y="46451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D6FFF"/>
                </a:solidFill>
              </a:rPr>
              <a:t>Stops duplicate work across departments</a:t>
            </a:r>
            <a:endParaRPr lang="en-US" sz="850" dirty="0"/>
          </a:p>
        </p:txBody>
      </p:sp>
      <p:sp>
        <p:nvSpPr>
          <p:cNvPr id="308" name="Shape 306"/>
          <p:cNvSpPr/>
          <p:nvPr/>
        </p:nvSpPr>
        <p:spPr>
          <a:xfrm>
            <a:off x="6217920" y="2788920"/>
            <a:ext cx="2743200" cy="2148840"/>
          </a:xfrm>
          <a:prstGeom prst="rect">
            <a:avLst/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9" name="Shape 307"/>
          <p:cNvSpPr/>
          <p:nvPr/>
        </p:nvSpPr>
        <p:spPr>
          <a:xfrm>
            <a:off x="6217920" y="2788920"/>
            <a:ext cx="2743200" cy="36576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6355080" y="28346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</a:rPr>
              <a:t>📡  Living Documentation</a:t>
            </a:r>
            <a:endParaRPr lang="en-US" sz="1200" dirty="0"/>
          </a:p>
        </p:txBody>
      </p:sp>
      <p:sp>
        <p:nvSpPr>
          <p:cNvPr id="311" name="Shape 309"/>
          <p:cNvSpPr/>
          <p:nvPr/>
        </p:nvSpPr>
        <p:spPr>
          <a:xfrm>
            <a:off x="6382512" y="3364992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2" name="Text 310"/>
          <p:cNvSpPr/>
          <p:nvPr/>
        </p:nvSpPr>
        <p:spPr>
          <a:xfrm>
            <a:off x="6519672" y="3255264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4E8"/>
                </a:solidFill>
              </a:rPr>
              <a:t>"Every answered question → saved"</a:t>
            </a:r>
            <a:endParaRPr lang="en-US" sz="950" dirty="0"/>
          </a:p>
        </p:txBody>
      </p:sp>
      <p:sp>
        <p:nvSpPr>
          <p:cNvPr id="313" name="Shape 311"/>
          <p:cNvSpPr/>
          <p:nvPr/>
        </p:nvSpPr>
        <p:spPr>
          <a:xfrm>
            <a:off x="6382512" y="3712464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6519672" y="360273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4E8"/>
                </a:solidFill>
              </a:rPr>
              <a:t>"Answers approved by leaders once"</a:t>
            </a:r>
            <a:endParaRPr lang="en-US" sz="950" dirty="0"/>
          </a:p>
        </p:txBody>
      </p:sp>
      <p:sp>
        <p:nvSpPr>
          <p:cNvPr id="315" name="Shape 313"/>
          <p:cNvSpPr/>
          <p:nvPr/>
        </p:nvSpPr>
        <p:spPr>
          <a:xfrm>
            <a:off x="6382512" y="4059936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6519672" y="3950208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4E8"/>
                </a:solidFill>
              </a:rPr>
              <a:t>"Corrections update the base instantly"</a:t>
            </a:r>
            <a:endParaRPr lang="en-US" sz="950" dirty="0"/>
          </a:p>
        </p:txBody>
      </p:sp>
      <p:sp>
        <p:nvSpPr>
          <p:cNvPr id="317" name="Shape 315"/>
          <p:cNvSpPr/>
          <p:nvPr/>
        </p:nvSpPr>
        <p:spPr>
          <a:xfrm>
            <a:off x="6382512" y="4407408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6519672" y="4297680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4E8"/>
                </a:solidFill>
              </a:rPr>
              <a:t>"Gaps flagged to admins for review"</a:t>
            </a:r>
            <a:endParaRPr lang="en-US" sz="950" dirty="0"/>
          </a:p>
        </p:txBody>
      </p:sp>
      <p:sp>
        <p:nvSpPr>
          <p:cNvPr id="319" name="Shape 317"/>
          <p:cNvSpPr/>
          <p:nvPr/>
        </p:nvSpPr>
        <p:spPr>
          <a:xfrm>
            <a:off x="6217920" y="4645152"/>
            <a:ext cx="2743200" cy="292608"/>
          </a:xfrm>
          <a:prstGeom prst="rect">
            <a:avLst/>
          </a:prstGeom>
          <a:solidFill>
            <a:srgbClr val="080D1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6327648" y="46451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D4FF"/>
                </a:solidFill>
              </a:rPr>
              <a:t>Knowledge grows with every chat</a:t>
            </a:r>
            <a:endParaRPr lang="en-US" sz="850" dirty="0"/>
          </a:p>
        </p:txBody>
      </p:sp>
      <p:sp>
        <p:nvSpPr>
          <p:cNvPr id="321" name="Text 319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04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782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1673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1673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1673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1673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1673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1673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1673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1673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1673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1673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1673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1673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5564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5564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5564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5564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5564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5564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5564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5564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75564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5564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5564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5564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9456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9456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9456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9456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9456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9456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9456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9456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9456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9456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19456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9456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3347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3347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3347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63347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3347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3347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63347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3347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63347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63347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63347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63347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07238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07238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07238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7238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07238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07238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7238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7238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07238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07238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07238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07238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51129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51129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51129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51129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51129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1129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1129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1129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1129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51129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1129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51129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95020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95020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95020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95020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95020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95020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95020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95020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95020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5020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95020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5020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38912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38912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38912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38912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38912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8912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2803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2803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2803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2803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2803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2803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2803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2803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2803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82803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82803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82803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26694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6694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26694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26694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26694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26694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26694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26694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26694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26694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26694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26694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70585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70585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70585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70585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70585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70585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70585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70585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70585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70585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70585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70585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14476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14476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14476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14476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14476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14476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14476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14476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14476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14476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14476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14476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58368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58368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58368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58368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58368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58368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58368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58368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58368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58368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58368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58368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02259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02259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02259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02259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02259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02259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2259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2259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02259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02259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02259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02259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6150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6150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6150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6150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6150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6150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46150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46150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46150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46150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46150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46150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041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041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041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041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041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041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041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041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90041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90041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90041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90041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33932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33932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33932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33932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33932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33932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33932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33932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33932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33932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33932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33932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77824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77824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77824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77824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77824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77824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77824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77824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77824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77824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77824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77824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50292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9D6FFF"/>
                </a:solidFill>
              </a:rPr>
              <a:t>AGENT INTEGRATIONS</a:t>
            </a:r>
            <a:endParaRPr lang="en-US" sz="800" dirty="0"/>
          </a:p>
        </p:txBody>
      </p:sp>
      <p:sp>
        <p:nvSpPr>
          <p:cNvPr id="255" name="Text 253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Must-IQ Connects to Your Tools</a:t>
            </a:r>
            <a:endParaRPr lang="en-US" sz="3200" dirty="0"/>
          </a:p>
        </p:txBody>
      </p:sp>
      <p:sp>
        <p:nvSpPr>
          <p:cNvPr id="256" name="Text 254"/>
          <p:cNvSpPr/>
          <p:nvPr/>
        </p:nvSpPr>
        <p:spPr>
          <a:xfrm>
            <a:off x="502920" y="111556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LangGraph agents automate tasks and enrich the knowledge base</a:t>
            </a:r>
            <a:endParaRPr lang="en-US" sz="1200" dirty="0"/>
          </a:p>
        </p:txBody>
      </p:sp>
      <p:sp>
        <p:nvSpPr>
          <p:cNvPr id="257" name="Shape 255"/>
          <p:cNvSpPr/>
          <p:nvPr/>
        </p:nvSpPr>
        <p:spPr>
          <a:xfrm>
            <a:off x="3474720" y="1645920"/>
            <a:ext cx="2194560" cy="2194560"/>
          </a:xfrm>
          <a:prstGeom prst="ellipse">
            <a:avLst/>
          </a:prstGeom>
          <a:solidFill>
            <a:srgbClr val="080D1A"/>
          </a:solidFill>
          <a:ln w="25400">
            <a:solidFill>
              <a:srgbClr val="9D6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8" name="Text 256"/>
          <p:cNvSpPr/>
          <p:nvPr/>
        </p:nvSpPr>
        <p:spPr>
          <a:xfrm>
            <a:off x="3474720" y="1828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259" name="Text 257"/>
          <p:cNvSpPr/>
          <p:nvPr/>
        </p:nvSpPr>
        <p:spPr>
          <a:xfrm>
            <a:off x="3474720" y="2514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6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Must-IQ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D6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1300" dirty="0"/>
          </a:p>
        </p:txBody>
      </p:sp>
      <p:sp>
        <p:nvSpPr>
          <p:cNvPr id="260" name="Text 258"/>
          <p:cNvSpPr/>
          <p:nvPr/>
        </p:nvSpPr>
        <p:spPr>
          <a:xfrm>
            <a:off x="3474720" y="31455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LangGraph ReAct</a:t>
            </a:r>
            <a:endParaRPr lang="en-US" sz="900" dirty="0"/>
          </a:p>
        </p:txBody>
      </p:sp>
      <p:sp>
        <p:nvSpPr>
          <p:cNvPr id="261" name="Shape 259"/>
          <p:cNvSpPr/>
          <p:nvPr/>
        </p:nvSpPr>
        <p:spPr>
          <a:xfrm rot="-9866309">
            <a:off x="4572000" y="2743200"/>
            <a:ext cx="3749319" cy="0"/>
          </a:xfrm>
          <a:prstGeom prst="line">
            <a:avLst/>
          </a:prstGeom>
          <a:noFill/>
          <a:ln w="12700">
            <a:solidFill>
              <a:srgbClr val="1A2540"/>
            </a:solidFill>
            <a:prstDash val="dash"/>
          </a:ln>
        </p:spPr>
      </p:sp>
      <p:sp>
        <p:nvSpPr>
          <p:cNvPr id="262" name="Shape 260"/>
          <p:cNvSpPr/>
          <p:nvPr/>
        </p:nvSpPr>
        <p:spPr>
          <a:xfrm rot="-1046831">
            <a:off x="4572000" y="2743200"/>
            <a:ext cx="3354739" cy="0"/>
          </a:xfrm>
          <a:prstGeom prst="line">
            <a:avLst/>
          </a:prstGeom>
          <a:noFill/>
          <a:ln w="12700">
            <a:solidFill>
              <a:srgbClr val="1A2540"/>
            </a:solidFill>
            <a:prstDash val="dash"/>
          </a:ln>
        </p:spPr>
      </p:sp>
      <p:sp>
        <p:nvSpPr>
          <p:cNvPr id="263" name="Shape 261"/>
          <p:cNvSpPr/>
          <p:nvPr/>
        </p:nvSpPr>
        <p:spPr>
          <a:xfrm rot="9866309">
            <a:off x="4572000" y="2743200"/>
            <a:ext cx="3749319" cy="0"/>
          </a:xfrm>
          <a:prstGeom prst="line">
            <a:avLst/>
          </a:prstGeom>
          <a:noFill/>
          <a:ln w="12700">
            <a:solidFill>
              <a:srgbClr val="1A2540"/>
            </a:solidFill>
            <a:prstDash val="dash"/>
          </a:ln>
        </p:spPr>
      </p:sp>
      <p:sp>
        <p:nvSpPr>
          <p:cNvPr id="264" name="Shape 262"/>
          <p:cNvSpPr/>
          <p:nvPr/>
        </p:nvSpPr>
        <p:spPr>
          <a:xfrm rot="1046831">
            <a:off x="4572000" y="2743200"/>
            <a:ext cx="3354739" cy="0"/>
          </a:xfrm>
          <a:prstGeom prst="line">
            <a:avLst/>
          </a:prstGeom>
          <a:noFill/>
          <a:ln w="12700">
            <a:solidFill>
              <a:srgbClr val="1A2540"/>
            </a:solidFill>
            <a:prstDash val="dash"/>
          </a:ln>
        </p:spPr>
      </p:sp>
      <p:sp>
        <p:nvSpPr>
          <p:cNvPr id="265" name="Shape 263"/>
          <p:cNvSpPr/>
          <p:nvPr/>
        </p:nvSpPr>
        <p:spPr>
          <a:xfrm>
            <a:off x="365760" y="1417320"/>
            <a:ext cx="2377440" cy="1508760"/>
          </a:xfrm>
          <a:prstGeom prst="rect">
            <a:avLst/>
          </a:prstGeom>
          <a:solidFill>
            <a:srgbClr val="0C1220"/>
          </a:solidFill>
          <a:ln w="12700">
            <a:solidFill>
              <a:srgbClr val="0052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6" name="Shape 264"/>
          <p:cNvSpPr/>
          <p:nvPr/>
        </p:nvSpPr>
        <p:spPr>
          <a:xfrm>
            <a:off x="365760" y="1417320"/>
            <a:ext cx="2377440" cy="36576"/>
          </a:xfrm>
          <a:prstGeom prst="rect">
            <a:avLst/>
          </a:prstGeom>
          <a:solidFill>
            <a:srgbClr val="0052CC">
              <a:alpha val="80000"/>
            </a:srgbClr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475488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68" name="Text 266"/>
          <p:cNvSpPr/>
          <p:nvPr/>
        </p:nvSpPr>
        <p:spPr>
          <a:xfrm>
            <a:off x="914400" y="15087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Jira</a:t>
            </a:r>
            <a:endParaRPr lang="en-US" sz="1500" dirty="0"/>
          </a:p>
        </p:txBody>
      </p:sp>
      <p:sp>
        <p:nvSpPr>
          <p:cNvPr id="269" name="Shape 267"/>
          <p:cNvSpPr/>
          <p:nvPr/>
        </p:nvSpPr>
        <p:spPr>
          <a:xfrm>
            <a:off x="530352" y="2048256"/>
            <a:ext cx="64008" cy="64008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658368" y="19842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Create tickets from chat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530352" y="2258568"/>
            <a:ext cx="64008" cy="64008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658368" y="219456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Update story status</a:t>
            </a:r>
            <a:endParaRPr lang="en-US" sz="900" dirty="0"/>
          </a:p>
        </p:txBody>
      </p:sp>
      <p:sp>
        <p:nvSpPr>
          <p:cNvPr id="273" name="Shape 271"/>
          <p:cNvSpPr/>
          <p:nvPr/>
        </p:nvSpPr>
        <p:spPr>
          <a:xfrm>
            <a:off x="530352" y="2468880"/>
            <a:ext cx="64008" cy="64008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658368" y="240487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Assign tasks by name</a:t>
            </a:r>
            <a:endParaRPr lang="en-US" sz="900" dirty="0"/>
          </a:p>
        </p:txBody>
      </p:sp>
      <p:sp>
        <p:nvSpPr>
          <p:cNvPr id="275" name="Shape 273"/>
          <p:cNvSpPr/>
          <p:nvPr/>
        </p:nvSpPr>
        <p:spPr>
          <a:xfrm>
            <a:off x="530352" y="2679192"/>
            <a:ext cx="64008" cy="64008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658368" y="2615184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Query sprint progress</a:t>
            </a:r>
            <a:endParaRPr lang="en-US" sz="900" dirty="0"/>
          </a:p>
        </p:txBody>
      </p:sp>
      <p:sp>
        <p:nvSpPr>
          <p:cNvPr id="277" name="Shape 275"/>
          <p:cNvSpPr/>
          <p:nvPr/>
        </p:nvSpPr>
        <p:spPr>
          <a:xfrm>
            <a:off x="365760" y="2880360"/>
            <a:ext cx="2377440" cy="45720"/>
          </a:xfrm>
          <a:prstGeom prst="rect">
            <a:avLst/>
          </a:prstGeom>
          <a:solidFill>
            <a:srgbClr val="0052CC">
              <a:alpha val="60000"/>
            </a:srgbClr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6583680" y="1417320"/>
            <a:ext cx="2377440" cy="1508760"/>
          </a:xfrm>
          <a:prstGeom prst="rect">
            <a:avLst/>
          </a:prstGeom>
          <a:solidFill>
            <a:srgbClr val="0C1220"/>
          </a:solidFill>
          <a:ln w="12700">
            <a:solidFill>
              <a:srgbClr val="4A15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9" name="Shape 277"/>
          <p:cNvSpPr/>
          <p:nvPr/>
        </p:nvSpPr>
        <p:spPr>
          <a:xfrm>
            <a:off x="6583680" y="1417320"/>
            <a:ext cx="2377440" cy="36576"/>
          </a:xfrm>
          <a:prstGeom prst="rect">
            <a:avLst/>
          </a:prstGeom>
          <a:solidFill>
            <a:srgbClr val="4A154B">
              <a:alpha val="80000"/>
            </a:srgbClr>
          </a:solidFill>
          <a:ln w="12700">
            <a:solidFill>
              <a:srgbClr val="4A154B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6693408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81" name="Text 279"/>
          <p:cNvSpPr/>
          <p:nvPr/>
        </p:nvSpPr>
        <p:spPr>
          <a:xfrm>
            <a:off x="7132320" y="15087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Slack</a:t>
            </a:r>
            <a:endParaRPr lang="en-US" sz="1500" dirty="0"/>
          </a:p>
        </p:txBody>
      </p:sp>
      <p:sp>
        <p:nvSpPr>
          <p:cNvPr id="282" name="Shape 280"/>
          <p:cNvSpPr/>
          <p:nvPr/>
        </p:nvSpPr>
        <p:spPr>
          <a:xfrm>
            <a:off x="6748272" y="2048256"/>
            <a:ext cx="64008" cy="64008"/>
          </a:xfrm>
          <a:prstGeom prst="ellipse">
            <a:avLst/>
          </a:prstGeom>
          <a:solidFill>
            <a:srgbClr val="4A154B"/>
          </a:solidFill>
          <a:ln w="12700">
            <a:solidFill>
              <a:srgbClr val="4A154B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6876288" y="19842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Post summaries to channels</a:t>
            </a:r>
            <a:endParaRPr lang="en-US" sz="900" dirty="0"/>
          </a:p>
        </p:txBody>
      </p:sp>
      <p:sp>
        <p:nvSpPr>
          <p:cNvPr id="284" name="Shape 282"/>
          <p:cNvSpPr/>
          <p:nvPr/>
        </p:nvSpPr>
        <p:spPr>
          <a:xfrm>
            <a:off x="6748272" y="2258568"/>
            <a:ext cx="64008" cy="64008"/>
          </a:xfrm>
          <a:prstGeom prst="ellipse">
            <a:avLst/>
          </a:prstGeom>
          <a:solidFill>
            <a:srgbClr val="4A154B"/>
          </a:solidFill>
          <a:ln w="12700">
            <a:solidFill>
              <a:srgbClr val="4A154B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6876288" y="219456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Notify teams of updates</a:t>
            </a:r>
            <a:endParaRPr lang="en-US" sz="900" dirty="0"/>
          </a:p>
        </p:txBody>
      </p:sp>
      <p:sp>
        <p:nvSpPr>
          <p:cNvPr id="286" name="Shape 284"/>
          <p:cNvSpPr/>
          <p:nvPr/>
        </p:nvSpPr>
        <p:spPr>
          <a:xfrm>
            <a:off x="6748272" y="2468880"/>
            <a:ext cx="64008" cy="64008"/>
          </a:xfrm>
          <a:prstGeom prst="ellipse">
            <a:avLst/>
          </a:prstGeom>
          <a:solidFill>
            <a:srgbClr val="4A154B"/>
          </a:solidFill>
          <a:ln w="12700">
            <a:solidFill>
              <a:srgbClr val="4A154B"/>
            </a:solidFill>
            <a:prstDash val="solid"/>
          </a:ln>
        </p:spPr>
      </p:sp>
      <p:sp>
        <p:nvSpPr>
          <p:cNvPr id="287" name="Text 285"/>
          <p:cNvSpPr/>
          <p:nvPr/>
        </p:nvSpPr>
        <p:spPr>
          <a:xfrm>
            <a:off x="6876288" y="240487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Read channel context</a:t>
            </a:r>
            <a:endParaRPr lang="en-US" sz="900" dirty="0"/>
          </a:p>
        </p:txBody>
      </p:sp>
      <p:sp>
        <p:nvSpPr>
          <p:cNvPr id="288" name="Shape 286"/>
          <p:cNvSpPr/>
          <p:nvPr/>
        </p:nvSpPr>
        <p:spPr>
          <a:xfrm>
            <a:off x="6748272" y="2679192"/>
            <a:ext cx="64008" cy="64008"/>
          </a:xfrm>
          <a:prstGeom prst="ellipse">
            <a:avLst/>
          </a:prstGeom>
          <a:solidFill>
            <a:srgbClr val="4A154B"/>
          </a:solidFill>
          <a:ln w="12700">
            <a:solidFill>
              <a:srgbClr val="4A154B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6876288" y="2615184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Send direct alerts</a:t>
            </a:r>
            <a:endParaRPr lang="en-US" sz="900" dirty="0"/>
          </a:p>
        </p:txBody>
      </p:sp>
      <p:sp>
        <p:nvSpPr>
          <p:cNvPr id="290" name="Shape 288"/>
          <p:cNvSpPr/>
          <p:nvPr/>
        </p:nvSpPr>
        <p:spPr>
          <a:xfrm>
            <a:off x="6583680" y="2880360"/>
            <a:ext cx="2377440" cy="45720"/>
          </a:xfrm>
          <a:prstGeom prst="rect">
            <a:avLst/>
          </a:prstGeom>
          <a:solidFill>
            <a:srgbClr val="4A154B">
              <a:alpha val="60000"/>
            </a:srgbClr>
          </a:solidFill>
          <a:ln w="12700">
            <a:solidFill>
              <a:srgbClr val="4A154B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365760" y="3493008"/>
            <a:ext cx="2377440" cy="1508760"/>
          </a:xfrm>
          <a:prstGeom prst="rect">
            <a:avLst/>
          </a:prstGeom>
          <a:solidFill>
            <a:srgbClr val="0C1220"/>
          </a:solidFill>
          <a:ln w="12700">
            <a:solidFill>
              <a:srgbClr val="2429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2" name="Shape 290"/>
          <p:cNvSpPr/>
          <p:nvPr/>
        </p:nvSpPr>
        <p:spPr>
          <a:xfrm>
            <a:off x="365760" y="3493008"/>
            <a:ext cx="2377440" cy="36576"/>
          </a:xfrm>
          <a:prstGeom prst="rect">
            <a:avLst/>
          </a:prstGeom>
          <a:solidFill>
            <a:srgbClr val="24292F">
              <a:alpha val="80000"/>
            </a:srgbClr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293" name="Text 291"/>
          <p:cNvSpPr/>
          <p:nvPr/>
        </p:nvSpPr>
        <p:spPr>
          <a:xfrm>
            <a:off x="475488" y="3584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🐙</a:t>
            </a:r>
            <a:endParaRPr lang="en-US" sz="2000" dirty="0"/>
          </a:p>
        </p:txBody>
      </p:sp>
      <p:sp>
        <p:nvSpPr>
          <p:cNvPr id="294" name="Text 292"/>
          <p:cNvSpPr/>
          <p:nvPr/>
        </p:nvSpPr>
        <p:spPr>
          <a:xfrm>
            <a:off x="914400" y="358444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1500" dirty="0"/>
          </a:p>
        </p:txBody>
      </p:sp>
      <p:sp>
        <p:nvSpPr>
          <p:cNvPr id="295" name="Shape 293"/>
          <p:cNvSpPr/>
          <p:nvPr/>
        </p:nvSpPr>
        <p:spPr>
          <a:xfrm>
            <a:off x="530352" y="4123944"/>
            <a:ext cx="64008" cy="64008"/>
          </a:xfrm>
          <a:prstGeom prst="ellipse">
            <a:avLst/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658368" y="4059936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List open PRs by team</a:t>
            </a:r>
            <a:endParaRPr lang="en-US" sz="900" dirty="0"/>
          </a:p>
        </p:txBody>
      </p:sp>
      <p:sp>
        <p:nvSpPr>
          <p:cNvPr id="297" name="Shape 295"/>
          <p:cNvSpPr/>
          <p:nvPr/>
        </p:nvSpPr>
        <p:spPr>
          <a:xfrm>
            <a:off x="530352" y="4334256"/>
            <a:ext cx="64008" cy="64008"/>
          </a:xfrm>
          <a:prstGeom prst="ellipse">
            <a:avLst/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658368" y="42702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Summarize recent commits</a:t>
            </a:r>
            <a:endParaRPr lang="en-US" sz="900" dirty="0"/>
          </a:p>
        </p:txBody>
      </p:sp>
      <p:sp>
        <p:nvSpPr>
          <p:cNvPr id="299" name="Shape 297"/>
          <p:cNvSpPr/>
          <p:nvPr/>
        </p:nvSpPr>
        <p:spPr>
          <a:xfrm>
            <a:off x="530352" y="4544568"/>
            <a:ext cx="64008" cy="64008"/>
          </a:xfrm>
          <a:prstGeom prst="ellipse">
            <a:avLst/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658368" y="448056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Check CI/CD status</a:t>
            </a:r>
            <a:endParaRPr lang="en-US" sz="900" dirty="0"/>
          </a:p>
        </p:txBody>
      </p:sp>
      <p:sp>
        <p:nvSpPr>
          <p:cNvPr id="301" name="Shape 299"/>
          <p:cNvSpPr/>
          <p:nvPr/>
        </p:nvSpPr>
        <p:spPr>
          <a:xfrm>
            <a:off x="530352" y="4754880"/>
            <a:ext cx="64008" cy="64008"/>
          </a:xfrm>
          <a:prstGeom prst="ellipse">
            <a:avLst/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658368" y="469087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Find repo owners</a:t>
            </a:r>
            <a:endParaRPr lang="en-US" sz="900" dirty="0"/>
          </a:p>
        </p:txBody>
      </p:sp>
      <p:sp>
        <p:nvSpPr>
          <p:cNvPr id="303" name="Shape 301"/>
          <p:cNvSpPr/>
          <p:nvPr/>
        </p:nvSpPr>
        <p:spPr>
          <a:xfrm>
            <a:off x="365760" y="4956048"/>
            <a:ext cx="2377440" cy="45720"/>
          </a:xfrm>
          <a:prstGeom prst="rect">
            <a:avLst/>
          </a:prstGeom>
          <a:solidFill>
            <a:srgbClr val="24292F">
              <a:alpha val="60000"/>
            </a:srgbClr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6583680" y="3493008"/>
            <a:ext cx="2377440" cy="1508760"/>
          </a:xfrm>
          <a:prstGeom prst="rect">
            <a:avLst/>
          </a:prstGeom>
          <a:solidFill>
            <a:srgbClr val="0C1220"/>
          </a:solidFill>
          <a:ln w="12700">
            <a:solidFill>
              <a:srgbClr val="172B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5" name="Shape 303"/>
          <p:cNvSpPr/>
          <p:nvPr/>
        </p:nvSpPr>
        <p:spPr>
          <a:xfrm>
            <a:off x="6583680" y="3493008"/>
            <a:ext cx="2377440" cy="36576"/>
          </a:xfrm>
          <a:prstGeom prst="rect">
            <a:avLst/>
          </a:prstGeom>
          <a:solidFill>
            <a:srgbClr val="172B4D">
              <a:alpha val="80000"/>
            </a:srgbClr>
          </a:solidFill>
          <a:ln w="12700">
            <a:solidFill>
              <a:srgbClr val="172B4D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6693408" y="3584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307" name="Text 305"/>
          <p:cNvSpPr/>
          <p:nvPr/>
        </p:nvSpPr>
        <p:spPr>
          <a:xfrm>
            <a:off x="7132320" y="358444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Confluence</a:t>
            </a:r>
            <a:endParaRPr lang="en-US" sz="1500" dirty="0"/>
          </a:p>
        </p:txBody>
      </p:sp>
      <p:sp>
        <p:nvSpPr>
          <p:cNvPr id="308" name="Shape 306"/>
          <p:cNvSpPr/>
          <p:nvPr/>
        </p:nvSpPr>
        <p:spPr>
          <a:xfrm>
            <a:off x="6748272" y="4123944"/>
            <a:ext cx="64008" cy="64008"/>
          </a:xfrm>
          <a:prstGeom prst="ellipse">
            <a:avLst/>
          </a:prstGeom>
          <a:solidFill>
            <a:srgbClr val="172B4D"/>
          </a:solidFill>
          <a:ln w="12700">
            <a:solidFill>
              <a:srgbClr val="172B4D"/>
            </a:solidFill>
            <a:prstDash val="solid"/>
          </a:ln>
        </p:spPr>
      </p:sp>
      <p:sp>
        <p:nvSpPr>
          <p:cNvPr id="309" name="Text 307"/>
          <p:cNvSpPr/>
          <p:nvPr/>
        </p:nvSpPr>
        <p:spPr>
          <a:xfrm>
            <a:off x="6876288" y="4059936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Ingest page content to KB</a:t>
            </a:r>
            <a:endParaRPr lang="en-US" sz="900" dirty="0"/>
          </a:p>
        </p:txBody>
      </p:sp>
      <p:sp>
        <p:nvSpPr>
          <p:cNvPr id="310" name="Shape 308"/>
          <p:cNvSpPr/>
          <p:nvPr/>
        </p:nvSpPr>
        <p:spPr>
          <a:xfrm>
            <a:off x="6748272" y="4334256"/>
            <a:ext cx="64008" cy="64008"/>
          </a:xfrm>
          <a:prstGeom prst="ellipse">
            <a:avLst/>
          </a:prstGeom>
          <a:solidFill>
            <a:srgbClr val="172B4D"/>
          </a:solidFill>
          <a:ln w="12700">
            <a:solidFill>
              <a:srgbClr val="172B4D"/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6876288" y="42702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Create new pages from Q&amp;A</a:t>
            </a:r>
            <a:endParaRPr lang="en-US" sz="900" dirty="0"/>
          </a:p>
        </p:txBody>
      </p:sp>
      <p:sp>
        <p:nvSpPr>
          <p:cNvPr id="312" name="Shape 310"/>
          <p:cNvSpPr/>
          <p:nvPr/>
        </p:nvSpPr>
        <p:spPr>
          <a:xfrm>
            <a:off x="6748272" y="4544568"/>
            <a:ext cx="64008" cy="64008"/>
          </a:xfrm>
          <a:prstGeom prst="ellipse">
            <a:avLst/>
          </a:prstGeom>
          <a:solidFill>
            <a:srgbClr val="172B4D"/>
          </a:solidFill>
          <a:ln w="12700">
            <a:solidFill>
              <a:srgbClr val="172B4D"/>
            </a:solidFill>
            <a:prstDash val="solid"/>
          </a:ln>
        </p:spPr>
      </p:sp>
      <p:sp>
        <p:nvSpPr>
          <p:cNvPr id="313" name="Text 311"/>
          <p:cNvSpPr/>
          <p:nvPr/>
        </p:nvSpPr>
        <p:spPr>
          <a:xfrm>
            <a:off x="6876288" y="448056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Search documentation</a:t>
            </a:r>
            <a:endParaRPr lang="en-US" sz="900" dirty="0"/>
          </a:p>
        </p:txBody>
      </p:sp>
      <p:sp>
        <p:nvSpPr>
          <p:cNvPr id="314" name="Shape 312"/>
          <p:cNvSpPr/>
          <p:nvPr/>
        </p:nvSpPr>
        <p:spPr>
          <a:xfrm>
            <a:off x="6748272" y="4754880"/>
            <a:ext cx="64008" cy="64008"/>
          </a:xfrm>
          <a:prstGeom prst="ellipse">
            <a:avLst/>
          </a:prstGeom>
          <a:solidFill>
            <a:srgbClr val="172B4D"/>
          </a:solidFill>
          <a:ln w="12700">
            <a:solidFill>
              <a:srgbClr val="172B4D"/>
            </a:solidFill>
            <a:prstDash val="solid"/>
          </a:ln>
        </p:spPr>
      </p:sp>
      <p:sp>
        <p:nvSpPr>
          <p:cNvPr id="315" name="Text 313"/>
          <p:cNvSpPr/>
          <p:nvPr/>
        </p:nvSpPr>
        <p:spPr>
          <a:xfrm>
            <a:off x="6876288" y="469087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Auto-update stale docs</a:t>
            </a:r>
            <a:endParaRPr lang="en-US" sz="900" dirty="0"/>
          </a:p>
        </p:txBody>
      </p:sp>
      <p:sp>
        <p:nvSpPr>
          <p:cNvPr id="316" name="Shape 314"/>
          <p:cNvSpPr/>
          <p:nvPr/>
        </p:nvSpPr>
        <p:spPr>
          <a:xfrm>
            <a:off x="6583680" y="4956048"/>
            <a:ext cx="2377440" cy="45720"/>
          </a:xfrm>
          <a:prstGeom prst="rect">
            <a:avLst/>
          </a:prstGeom>
          <a:solidFill>
            <a:srgbClr val="172B4D">
              <a:alpha val="60000"/>
            </a:srgbClr>
          </a:solidFill>
          <a:ln w="12700">
            <a:solidFill>
              <a:srgbClr val="172B4D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080D1A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All tool calls go through the LangGraph ReAct agent — Must-IQ decides which tool to use based on the employee's natural-language request.</a:t>
            </a:r>
            <a:endParaRPr lang="en-US" sz="900" dirty="0"/>
          </a:p>
        </p:txBody>
      </p:sp>
      <p:sp>
        <p:nvSpPr>
          <p:cNvPr id="319" name="Text 317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04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782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1673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1673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1673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1673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1673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1673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1673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1673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1673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1673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1673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1673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5564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5564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5564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5564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5564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5564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5564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5564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75564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5564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5564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5564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9456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9456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9456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9456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9456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9456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9456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9456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9456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9456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19456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9456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3347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3347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3347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63347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3347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3347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63347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3347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63347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63347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63347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63347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07238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07238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07238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7238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07238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07238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7238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7238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07238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07238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07238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07238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51129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51129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51129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51129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51129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1129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1129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1129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1129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51129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1129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51129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95020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95020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95020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95020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95020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95020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95020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95020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95020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5020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95020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5020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38912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38912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38912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38912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38912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8912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2803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2803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2803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2803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2803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2803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2803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2803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2803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82803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82803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82803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26694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6694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26694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26694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26694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26694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26694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26694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26694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26694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26694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26694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70585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70585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70585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70585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70585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70585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70585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70585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70585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70585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70585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70585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14476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14476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14476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14476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14476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14476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14476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14476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14476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14476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14476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14476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58368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58368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58368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58368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58368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58368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58368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58368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58368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58368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58368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58368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02259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02259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02259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02259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02259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02259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2259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2259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02259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02259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02259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02259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6150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6150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6150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6150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6150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6150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46150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46150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46150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46150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46150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46150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041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041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041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041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041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041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041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041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90041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90041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90041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90041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33932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33932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33932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33932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33932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33932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33932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33932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33932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33932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33932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33932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77824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77824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77824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77824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77824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77824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77824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77824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77824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77824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77824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77824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50292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00D4FF"/>
                </a:solidFill>
              </a:rPr>
              <a:t>COMPLETE ARCHITECTURE</a:t>
            </a:r>
            <a:endParaRPr lang="en-US" sz="800" dirty="0"/>
          </a:p>
        </p:txBody>
      </p:sp>
      <p:sp>
        <p:nvSpPr>
          <p:cNvPr id="255" name="Text 253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Must-IQ — Full System Overview</a:t>
            </a:r>
            <a:endParaRPr lang="en-US" sz="3200" dirty="0"/>
          </a:p>
        </p:txBody>
      </p:sp>
      <p:sp>
        <p:nvSpPr>
          <p:cNvPr id="256" name="Text 254"/>
          <p:cNvSpPr/>
          <p:nvPr/>
        </p:nvSpPr>
        <p:spPr>
          <a:xfrm>
            <a:off x="502920" y="111556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Project knowledge base + agent integrations + LLM switching</a:t>
            </a:r>
            <a:endParaRPr lang="en-US" sz="1200" dirty="0"/>
          </a:p>
        </p:txBody>
      </p:sp>
      <p:sp>
        <p:nvSpPr>
          <p:cNvPr id="257" name="Shape 255"/>
          <p:cNvSpPr/>
          <p:nvPr/>
        </p:nvSpPr>
        <p:spPr>
          <a:xfrm>
            <a:off x="320040" y="1389888"/>
            <a:ext cx="3840480" cy="566928"/>
          </a:xfrm>
          <a:prstGeom prst="rect">
            <a:avLst/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8" name="Shape 256"/>
          <p:cNvSpPr/>
          <p:nvPr/>
        </p:nvSpPr>
        <p:spPr>
          <a:xfrm>
            <a:off x="320040" y="1389888"/>
            <a:ext cx="45720" cy="5669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411480" y="1481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60" name="Text 258"/>
          <p:cNvSpPr/>
          <p:nvPr/>
        </p:nvSpPr>
        <p:spPr>
          <a:xfrm>
            <a:off x="822960" y="14447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Web UI / Chat</a:t>
            </a:r>
            <a:endParaRPr lang="en-US" sz="1100" dirty="0"/>
          </a:p>
        </p:txBody>
      </p:sp>
      <p:sp>
        <p:nvSpPr>
          <p:cNvPr id="261" name="Text 259"/>
          <p:cNvSpPr/>
          <p:nvPr/>
        </p:nvSpPr>
        <p:spPr>
          <a:xfrm>
            <a:off x="822960" y="170078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Next.js 14  ·  SSE Streaming</a:t>
            </a:r>
            <a:endParaRPr lang="en-US" sz="900" dirty="0"/>
          </a:p>
        </p:txBody>
      </p:sp>
      <p:sp>
        <p:nvSpPr>
          <p:cNvPr id="262" name="Text 260"/>
          <p:cNvSpPr/>
          <p:nvPr/>
        </p:nvSpPr>
        <p:spPr>
          <a:xfrm>
            <a:off x="1965960" y="200253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↓</a:t>
            </a:r>
            <a:endParaRPr lang="en-US" sz="1300" dirty="0"/>
          </a:p>
        </p:txBody>
      </p:sp>
      <p:sp>
        <p:nvSpPr>
          <p:cNvPr id="263" name="Shape 261"/>
          <p:cNvSpPr/>
          <p:nvPr/>
        </p:nvSpPr>
        <p:spPr>
          <a:xfrm>
            <a:off x="320040" y="2286000"/>
            <a:ext cx="3840480" cy="566928"/>
          </a:xfrm>
          <a:prstGeom prst="rect">
            <a:avLst/>
          </a:prstGeom>
          <a:solidFill>
            <a:srgbClr val="0C1220"/>
          </a:solidFill>
          <a:ln w="12700">
            <a:solidFill>
              <a:srgbClr val="FFB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4" name="Shape 262"/>
          <p:cNvSpPr/>
          <p:nvPr/>
        </p:nvSpPr>
        <p:spPr>
          <a:xfrm>
            <a:off x="320040" y="2286000"/>
            <a:ext cx="45720" cy="566928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41148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66" name="Text 264"/>
          <p:cNvSpPr/>
          <p:nvPr/>
        </p:nvSpPr>
        <p:spPr>
          <a:xfrm>
            <a:off x="822960" y="23408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NestJS API Gateway</a:t>
            </a:r>
            <a:endParaRPr lang="en-US" sz="1100" dirty="0"/>
          </a:p>
        </p:txBody>
      </p:sp>
      <p:sp>
        <p:nvSpPr>
          <p:cNvPr id="267" name="Text 265"/>
          <p:cNvSpPr/>
          <p:nvPr/>
        </p:nvSpPr>
        <p:spPr>
          <a:xfrm>
            <a:off x="822960" y="259689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JWT · RBAC · Token Budget · Audit Log</a:t>
            </a:r>
            <a:endParaRPr lang="en-US" sz="900" dirty="0"/>
          </a:p>
        </p:txBody>
      </p:sp>
      <p:sp>
        <p:nvSpPr>
          <p:cNvPr id="268" name="Text 266"/>
          <p:cNvSpPr/>
          <p:nvPr/>
        </p:nvSpPr>
        <p:spPr>
          <a:xfrm>
            <a:off x="1965960" y="289864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↓</a:t>
            </a:r>
            <a:endParaRPr lang="en-US" sz="1300" dirty="0"/>
          </a:p>
        </p:txBody>
      </p:sp>
      <p:sp>
        <p:nvSpPr>
          <p:cNvPr id="269" name="Shape 267"/>
          <p:cNvSpPr/>
          <p:nvPr/>
        </p:nvSpPr>
        <p:spPr>
          <a:xfrm>
            <a:off x="320040" y="3182112"/>
            <a:ext cx="3840480" cy="1783080"/>
          </a:xfrm>
          <a:prstGeom prst="rect">
            <a:avLst/>
          </a:prstGeom>
          <a:solidFill>
            <a:srgbClr val="0C1220"/>
          </a:solidFill>
          <a:ln w="12700">
            <a:solidFill>
              <a:srgbClr val="9D6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0" name="Shape 268"/>
          <p:cNvSpPr/>
          <p:nvPr/>
        </p:nvSpPr>
        <p:spPr>
          <a:xfrm>
            <a:off x="320040" y="3182112"/>
            <a:ext cx="45720" cy="1783080"/>
          </a:xfrm>
          <a:prstGeom prst="rect">
            <a:avLst/>
          </a:prstGeom>
          <a:solidFill>
            <a:srgbClr val="9D6FFF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41148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🦜</a:t>
            </a:r>
            <a:endParaRPr lang="en-US" sz="1800" dirty="0"/>
          </a:p>
        </p:txBody>
      </p:sp>
      <p:sp>
        <p:nvSpPr>
          <p:cNvPr id="272" name="Text 270"/>
          <p:cNvSpPr/>
          <p:nvPr/>
        </p:nvSpPr>
        <p:spPr>
          <a:xfrm>
            <a:off x="82296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LangChain AI Engine</a:t>
            </a:r>
            <a:endParaRPr lang="en-US" sz="1100" dirty="0"/>
          </a:p>
        </p:txBody>
      </p:sp>
      <p:sp>
        <p:nvSpPr>
          <p:cNvPr id="273" name="Shape 271"/>
          <p:cNvSpPr/>
          <p:nvPr/>
        </p:nvSpPr>
        <p:spPr>
          <a:xfrm>
            <a:off x="868680" y="3721608"/>
            <a:ext cx="64008" cy="64008"/>
          </a:xfrm>
          <a:prstGeom prst="ellipse">
            <a:avLst/>
          </a:prstGeom>
          <a:solidFill>
            <a:srgbClr val="9D6FFF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996696" y="3611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4E8"/>
                </a:solidFill>
              </a:rPr>
              <a:t>RAG Chain  ·  Project KB Chain</a:t>
            </a:r>
            <a:endParaRPr lang="en-US" sz="950" dirty="0"/>
          </a:p>
        </p:txBody>
      </p:sp>
      <p:sp>
        <p:nvSpPr>
          <p:cNvPr id="275" name="Shape 273"/>
          <p:cNvSpPr/>
          <p:nvPr/>
        </p:nvSpPr>
        <p:spPr>
          <a:xfrm>
            <a:off x="868680" y="4032504"/>
            <a:ext cx="64008" cy="64008"/>
          </a:xfrm>
          <a:prstGeom prst="ellipse">
            <a:avLst/>
          </a:prstGeom>
          <a:solidFill>
            <a:srgbClr val="9D6FFF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996696" y="392277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4E8"/>
                </a:solidFill>
              </a:rPr>
              <a:t>LangGraph ReAct Agent</a:t>
            </a:r>
            <a:endParaRPr lang="en-US" sz="950" dirty="0"/>
          </a:p>
        </p:txBody>
      </p:sp>
      <p:sp>
        <p:nvSpPr>
          <p:cNvPr id="277" name="Shape 275"/>
          <p:cNvSpPr/>
          <p:nvPr/>
        </p:nvSpPr>
        <p:spPr>
          <a:xfrm>
            <a:off x="868680" y="4343400"/>
            <a:ext cx="64008" cy="64008"/>
          </a:xfrm>
          <a:prstGeom prst="ellipse">
            <a:avLst/>
          </a:prstGeom>
          <a:solidFill>
            <a:srgbClr val="9D6FFF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996696" y="42336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4E8"/>
                </a:solidFill>
              </a:rPr>
              <a:t>Session Memory (ConversationSummaryBuffer)</a:t>
            </a:r>
            <a:endParaRPr lang="en-US" sz="950" dirty="0"/>
          </a:p>
        </p:txBody>
      </p:sp>
      <p:sp>
        <p:nvSpPr>
          <p:cNvPr id="279" name="Shape 277"/>
          <p:cNvSpPr/>
          <p:nvPr/>
        </p:nvSpPr>
        <p:spPr>
          <a:xfrm>
            <a:off x="868680" y="4654296"/>
            <a:ext cx="64008" cy="64008"/>
          </a:xfrm>
          <a:prstGeom prst="ellipse">
            <a:avLst/>
          </a:prstGeom>
          <a:solidFill>
            <a:srgbClr val="9D6FFF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996696" y="45445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4E8"/>
                </a:solidFill>
              </a:rPr>
              <a:t>Tools: Jira · Slack · GitHub · Confluence</a:t>
            </a:r>
            <a:endParaRPr lang="en-US" sz="950" dirty="0"/>
          </a:p>
        </p:txBody>
      </p:sp>
      <p:sp>
        <p:nvSpPr>
          <p:cNvPr id="281" name="Shape 279"/>
          <p:cNvSpPr/>
          <p:nvPr/>
        </p:nvSpPr>
        <p:spPr>
          <a:xfrm>
            <a:off x="4325112" y="1463040"/>
            <a:ext cx="54864" cy="54864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4325112" y="1938528"/>
            <a:ext cx="54864" cy="54864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4325112" y="2414016"/>
            <a:ext cx="54864" cy="54864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4325112" y="2889504"/>
            <a:ext cx="54864" cy="54864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4325112" y="3364992"/>
            <a:ext cx="54864" cy="54864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4325112" y="3840480"/>
            <a:ext cx="54864" cy="54864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4325112" y="4315968"/>
            <a:ext cx="54864" cy="54864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4325112" y="4791456"/>
            <a:ext cx="54864" cy="54864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4572000" y="1389888"/>
            <a:ext cx="4206240" cy="822960"/>
          </a:xfrm>
          <a:prstGeom prst="rect">
            <a:avLst/>
          </a:prstGeom>
          <a:solidFill>
            <a:srgbClr val="0C1220"/>
          </a:solidFill>
          <a:ln w="12700">
            <a:solidFill>
              <a:srgbClr val="00FF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0" name="Shape 288"/>
          <p:cNvSpPr/>
          <p:nvPr/>
        </p:nvSpPr>
        <p:spPr>
          <a:xfrm>
            <a:off x="4572000" y="1389888"/>
            <a:ext cx="45720" cy="82296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466344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</a:t>
            </a:r>
            <a:endParaRPr lang="en-US" sz="1800" dirty="0"/>
          </a:p>
        </p:txBody>
      </p:sp>
      <p:sp>
        <p:nvSpPr>
          <p:cNvPr id="292" name="Text 290"/>
          <p:cNvSpPr/>
          <p:nvPr/>
        </p:nvSpPr>
        <p:spPr>
          <a:xfrm>
            <a:off x="5074920" y="14447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PostgreSQL + pgvector</a:t>
            </a:r>
            <a:endParaRPr lang="en-US" sz="1100" dirty="0"/>
          </a:p>
        </p:txBody>
      </p:sp>
      <p:sp>
        <p:nvSpPr>
          <p:cNvPr id="293" name="Text 291"/>
          <p:cNvSpPr/>
          <p:nvPr/>
        </p:nvSpPr>
        <p:spPr>
          <a:xfrm>
            <a:off x="5074920" y="170078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Users · Sessions · Documents · Embeddings · Project Knowledge · Settings</a:t>
            </a:r>
            <a:endParaRPr lang="en-US" sz="850" dirty="0"/>
          </a:p>
        </p:txBody>
      </p:sp>
      <p:sp>
        <p:nvSpPr>
          <p:cNvPr id="294" name="Text 292"/>
          <p:cNvSpPr/>
          <p:nvPr/>
        </p:nvSpPr>
        <p:spPr>
          <a:xfrm>
            <a:off x="5074920" y="19202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FF9D"/>
                </a:solidFill>
              </a:rPr>
              <a:t>vector(1536)  HNSW index</a:t>
            </a:r>
            <a:endParaRPr lang="en-US" sz="800" dirty="0"/>
          </a:p>
        </p:txBody>
      </p:sp>
      <p:sp>
        <p:nvSpPr>
          <p:cNvPr id="295" name="Shape 293"/>
          <p:cNvSpPr/>
          <p:nvPr/>
        </p:nvSpPr>
        <p:spPr>
          <a:xfrm>
            <a:off x="4572000" y="2331720"/>
            <a:ext cx="1965960" cy="566928"/>
          </a:xfrm>
          <a:prstGeom prst="rect">
            <a:avLst/>
          </a:prstGeom>
          <a:solidFill>
            <a:srgbClr val="0C1220"/>
          </a:solidFill>
          <a:ln w="12700">
            <a:solidFill>
              <a:srgbClr val="FFB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6" name="Shape 294"/>
          <p:cNvSpPr/>
          <p:nvPr/>
        </p:nvSpPr>
        <p:spPr>
          <a:xfrm>
            <a:off x="4572000" y="2331720"/>
            <a:ext cx="45720" cy="566928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297" name="Text 295"/>
          <p:cNvSpPr/>
          <p:nvPr/>
        </p:nvSpPr>
        <p:spPr>
          <a:xfrm>
            <a:off x="4681728" y="237744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⚡ Redis</a:t>
            </a:r>
            <a:endParaRPr lang="en-US" sz="1100" dirty="0"/>
          </a:p>
        </p:txBody>
      </p:sp>
      <p:sp>
        <p:nvSpPr>
          <p:cNvPr id="298" name="Text 296"/>
          <p:cNvSpPr/>
          <p:nvPr/>
        </p:nvSpPr>
        <p:spPr>
          <a:xfrm>
            <a:off x="4681728" y="261518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Tokens · Cache · Memory</a:t>
            </a:r>
            <a:endParaRPr lang="en-US" sz="850" dirty="0"/>
          </a:p>
        </p:txBody>
      </p:sp>
      <p:sp>
        <p:nvSpPr>
          <p:cNvPr id="299" name="Shape 297"/>
          <p:cNvSpPr/>
          <p:nvPr/>
        </p:nvSpPr>
        <p:spPr>
          <a:xfrm>
            <a:off x="6720840" y="2331720"/>
            <a:ext cx="2057400" cy="566928"/>
          </a:xfrm>
          <a:prstGeom prst="rect">
            <a:avLst/>
          </a:prstGeom>
          <a:solidFill>
            <a:srgbClr val="0C1220"/>
          </a:solidFill>
          <a:ln w="12700">
            <a:solidFill>
              <a:srgbClr val="9D6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0" name="Shape 298"/>
          <p:cNvSpPr/>
          <p:nvPr/>
        </p:nvSpPr>
        <p:spPr>
          <a:xfrm>
            <a:off x="6720840" y="2331720"/>
            <a:ext cx="45720" cy="566928"/>
          </a:xfrm>
          <a:prstGeom prst="rect">
            <a:avLst/>
          </a:prstGeom>
          <a:solidFill>
            <a:srgbClr val="9D6FFF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6830568" y="23774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🧠 LLM</a:t>
            </a:r>
            <a:endParaRPr lang="en-US" sz="1100" dirty="0"/>
          </a:p>
        </p:txBody>
      </p:sp>
      <p:sp>
        <p:nvSpPr>
          <p:cNvPr id="302" name="Text 300"/>
          <p:cNvSpPr/>
          <p:nvPr/>
        </p:nvSpPr>
        <p:spPr>
          <a:xfrm>
            <a:off x="6830568" y="261518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Settings-controlled</a:t>
            </a:r>
            <a:endParaRPr lang="en-US" sz="850" dirty="0"/>
          </a:p>
        </p:txBody>
      </p:sp>
      <p:sp>
        <p:nvSpPr>
          <p:cNvPr id="303" name="Shape 301"/>
          <p:cNvSpPr/>
          <p:nvPr/>
        </p:nvSpPr>
        <p:spPr>
          <a:xfrm>
            <a:off x="4572000" y="3017520"/>
            <a:ext cx="4206240" cy="1947672"/>
          </a:xfrm>
          <a:prstGeom prst="rect">
            <a:avLst/>
          </a:prstGeom>
          <a:solidFill>
            <a:srgbClr val="080D16"/>
          </a:solidFill>
          <a:ln w="12700">
            <a:solidFill>
              <a:srgbClr val="1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4" name="Text 302"/>
          <p:cNvSpPr/>
          <p:nvPr/>
        </p:nvSpPr>
        <p:spPr>
          <a:xfrm>
            <a:off x="4709160" y="3063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5568"/>
                </a:solidFill>
              </a:rPr>
              <a:t>AGENT INTEGRATIONS</a:t>
            </a:r>
            <a:endParaRPr lang="en-US" sz="800" dirty="0"/>
          </a:p>
        </p:txBody>
      </p:sp>
      <p:sp>
        <p:nvSpPr>
          <p:cNvPr id="305" name="Shape 303"/>
          <p:cNvSpPr/>
          <p:nvPr/>
        </p:nvSpPr>
        <p:spPr>
          <a:xfrm>
            <a:off x="4681728" y="3401568"/>
            <a:ext cx="960120" cy="14173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6" name="Text 304"/>
          <p:cNvSpPr/>
          <p:nvPr/>
        </p:nvSpPr>
        <p:spPr>
          <a:xfrm>
            <a:off x="4681728" y="34747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307" name="Text 305"/>
          <p:cNvSpPr/>
          <p:nvPr/>
        </p:nvSpPr>
        <p:spPr>
          <a:xfrm>
            <a:off x="4718304" y="39776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6FF"/>
                </a:solidFill>
              </a:rPr>
              <a:t>Jira</a:t>
            </a:r>
            <a:endParaRPr lang="en-US" sz="1050" dirty="0"/>
          </a:p>
        </p:txBody>
      </p:sp>
      <p:sp>
        <p:nvSpPr>
          <p:cNvPr id="308" name="Text 306"/>
          <p:cNvSpPr/>
          <p:nvPr/>
        </p:nvSpPr>
        <p:spPr>
          <a:xfrm>
            <a:off x="4718304" y="4251960"/>
            <a:ext cx="886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Tickets, sprints, status</a:t>
            </a:r>
            <a:endParaRPr lang="en-US" sz="800" dirty="0"/>
          </a:p>
        </p:txBody>
      </p:sp>
      <p:sp>
        <p:nvSpPr>
          <p:cNvPr id="309" name="Shape 307"/>
          <p:cNvSpPr/>
          <p:nvPr/>
        </p:nvSpPr>
        <p:spPr>
          <a:xfrm>
            <a:off x="5751576" y="3401568"/>
            <a:ext cx="960120" cy="1417320"/>
          </a:xfrm>
          <a:prstGeom prst="rect">
            <a:avLst/>
          </a:prstGeom>
          <a:solidFill>
            <a:srgbClr val="4A154B"/>
          </a:solidFill>
          <a:ln w="12700">
            <a:solidFill>
              <a:srgbClr val="4A15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0" name="Text 308"/>
          <p:cNvSpPr/>
          <p:nvPr/>
        </p:nvSpPr>
        <p:spPr>
          <a:xfrm>
            <a:off x="5751576" y="34747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311" name="Text 309"/>
          <p:cNvSpPr/>
          <p:nvPr/>
        </p:nvSpPr>
        <p:spPr>
          <a:xfrm>
            <a:off x="5788152" y="39776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6FF"/>
                </a:solidFill>
              </a:rPr>
              <a:t>Slack</a:t>
            </a:r>
            <a:endParaRPr lang="en-US" sz="1050" dirty="0"/>
          </a:p>
        </p:txBody>
      </p:sp>
      <p:sp>
        <p:nvSpPr>
          <p:cNvPr id="312" name="Text 310"/>
          <p:cNvSpPr/>
          <p:nvPr/>
        </p:nvSpPr>
        <p:spPr>
          <a:xfrm>
            <a:off x="5788152" y="4251960"/>
            <a:ext cx="886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Channels, alerts, summaries</a:t>
            </a:r>
            <a:endParaRPr lang="en-US" sz="800" dirty="0"/>
          </a:p>
        </p:txBody>
      </p:sp>
      <p:sp>
        <p:nvSpPr>
          <p:cNvPr id="313" name="Shape 311"/>
          <p:cNvSpPr/>
          <p:nvPr/>
        </p:nvSpPr>
        <p:spPr>
          <a:xfrm>
            <a:off x="6821424" y="3401568"/>
            <a:ext cx="960120" cy="1417320"/>
          </a:xfrm>
          <a:prstGeom prst="rect">
            <a:avLst/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4" name="Text 312"/>
          <p:cNvSpPr/>
          <p:nvPr/>
        </p:nvSpPr>
        <p:spPr>
          <a:xfrm>
            <a:off x="6821424" y="34747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🐙</a:t>
            </a:r>
            <a:endParaRPr lang="en-US" sz="2400" dirty="0"/>
          </a:p>
        </p:txBody>
      </p:sp>
      <p:sp>
        <p:nvSpPr>
          <p:cNvPr id="315" name="Text 313"/>
          <p:cNvSpPr/>
          <p:nvPr/>
        </p:nvSpPr>
        <p:spPr>
          <a:xfrm>
            <a:off x="6858000" y="39776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6FF"/>
                </a:solidFill>
              </a:rPr>
              <a:t>GitHub</a:t>
            </a:r>
            <a:endParaRPr lang="en-US" sz="1050" dirty="0"/>
          </a:p>
        </p:txBody>
      </p:sp>
      <p:sp>
        <p:nvSpPr>
          <p:cNvPr id="316" name="Text 314"/>
          <p:cNvSpPr/>
          <p:nvPr/>
        </p:nvSpPr>
        <p:spPr>
          <a:xfrm>
            <a:off x="6858000" y="4251960"/>
            <a:ext cx="886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PRs, commits, CI/CD, owners</a:t>
            </a:r>
            <a:endParaRPr lang="en-US" sz="800" dirty="0"/>
          </a:p>
        </p:txBody>
      </p:sp>
      <p:sp>
        <p:nvSpPr>
          <p:cNvPr id="317" name="Shape 315"/>
          <p:cNvSpPr/>
          <p:nvPr/>
        </p:nvSpPr>
        <p:spPr>
          <a:xfrm>
            <a:off x="7891272" y="3401568"/>
            <a:ext cx="960120" cy="1417320"/>
          </a:xfrm>
          <a:prstGeom prst="rect">
            <a:avLst/>
          </a:prstGeom>
          <a:solidFill>
            <a:srgbClr val="172B4D"/>
          </a:solidFill>
          <a:ln w="12700">
            <a:solidFill>
              <a:srgbClr val="172B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8" name="Text 316"/>
          <p:cNvSpPr/>
          <p:nvPr/>
        </p:nvSpPr>
        <p:spPr>
          <a:xfrm>
            <a:off x="7891272" y="34747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319" name="Text 317"/>
          <p:cNvSpPr/>
          <p:nvPr/>
        </p:nvSpPr>
        <p:spPr>
          <a:xfrm>
            <a:off x="7927848" y="39776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6FF"/>
                </a:solidFill>
              </a:rPr>
              <a:t>Confluence</a:t>
            </a:r>
            <a:endParaRPr lang="en-US" sz="1050" dirty="0"/>
          </a:p>
        </p:txBody>
      </p:sp>
      <p:sp>
        <p:nvSpPr>
          <p:cNvPr id="320" name="Text 318"/>
          <p:cNvSpPr/>
          <p:nvPr/>
        </p:nvSpPr>
        <p:spPr>
          <a:xfrm>
            <a:off x="7927848" y="4251960"/>
            <a:ext cx="886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Docs, pages, onboarding</a:t>
            </a:r>
            <a:endParaRPr lang="en-US" sz="800" dirty="0"/>
          </a:p>
        </p:txBody>
      </p:sp>
      <p:sp>
        <p:nvSpPr>
          <p:cNvPr id="321" name="Text 319"/>
          <p:cNvSpPr/>
          <p:nvPr/>
        </p:nvSpPr>
        <p:spPr>
          <a:xfrm>
            <a:off x="4160520" y="38404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D6FFF"/>
                </a:solidFill>
              </a:rPr>
              <a:t>⟷</a:t>
            </a:r>
            <a:endParaRPr lang="en-US" sz="1800" dirty="0"/>
          </a:p>
        </p:txBody>
      </p:sp>
      <p:sp>
        <p:nvSpPr>
          <p:cNvPr id="322" name="Text 320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04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782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1673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1673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1673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1673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1673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1673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1673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1673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1673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1673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1673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1673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5564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5564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5564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5564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5564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5564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5564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5564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75564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5564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5564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5564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9456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9456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9456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9456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9456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9456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9456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9456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9456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9456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19456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9456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3347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3347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3347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63347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3347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3347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63347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3347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63347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63347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63347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63347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07238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07238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07238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7238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07238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07238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7238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7238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07238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07238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07238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07238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51129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51129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51129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51129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51129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1129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1129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1129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1129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51129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1129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51129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95020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95020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95020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95020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95020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95020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95020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95020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95020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5020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95020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5020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38912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38912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38912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38912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38912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8912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2803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2803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2803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2803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2803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2803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2803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2803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2803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82803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82803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82803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26694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6694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26694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26694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26694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26694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26694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26694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26694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26694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26694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26694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70585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70585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70585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70585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70585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70585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70585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70585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70585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70585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70585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70585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14476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14476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14476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14476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14476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14476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14476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14476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14476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14476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14476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14476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58368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58368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58368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58368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58368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58368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58368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58368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58368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58368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58368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58368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022592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022592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022592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022592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022592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022592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22592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22592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022592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022592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022592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022592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61504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61504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61504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61504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61504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61504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461504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461504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461504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461504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461504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461504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0416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0416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0416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0416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0416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0416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0416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0416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900416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900416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900416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900416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339328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339328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339328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339328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339328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339328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339328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339328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339328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339328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339328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339328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778240" y="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778240" y="42976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778240" y="85953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778240" y="128930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778240" y="171907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778240" y="214884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778240" y="257860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778240" y="3008376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778240" y="3438144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778240" y="3867912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778240" y="4297680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778240" y="4727448"/>
            <a:ext cx="18288" cy="18288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50292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00D4FF"/>
                </a:solidFill>
              </a:rPr>
              <a:t>SEARCH SCOPE</a:t>
            </a:r>
            <a:endParaRPr lang="en-US" sz="800" dirty="0"/>
          </a:p>
        </p:txBody>
      </p:sp>
      <p:sp>
        <p:nvSpPr>
          <p:cNvPr id="255" name="Text 253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Control the Search Scope</a:t>
            </a:r>
            <a:endParaRPr lang="en-US" sz="3200" dirty="0"/>
          </a:p>
        </p:txBody>
      </p:sp>
      <p:sp>
        <p:nvSpPr>
          <p:cNvPr id="256" name="Text 254"/>
          <p:cNvSpPr/>
          <p:nvPr/>
        </p:nvSpPr>
        <p:spPr>
          <a:xfrm>
            <a:off x="502920" y="111556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General Knowledge is visible to everyone by default. Select which silos to include — per query.</a:t>
            </a:r>
            <a:endParaRPr lang="en-US" sz="1200" dirty="0"/>
          </a:p>
        </p:txBody>
      </p:sp>
      <p:sp>
        <p:nvSpPr>
          <p:cNvPr id="257" name="Shape 255"/>
          <p:cNvSpPr/>
          <p:nvPr/>
        </p:nvSpPr>
        <p:spPr>
          <a:xfrm>
            <a:off x="365760" y="1508760"/>
            <a:ext cx="3200400" cy="3429000"/>
          </a:xfrm>
          <a:prstGeom prst="rect">
            <a:avLst/>
          </a:prstGeom>
          <a:solidFill>
            <a:srgbClr val="0C1220"/>
          </a:solidFill>
          <a:ln w="12700">
            <a:solidFill>
              <a:srgbClr val="1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8" name="Shape 256"/>
          <p:cNvSpPr/>
          <p:nvPr/>
        </p:nvSpPr>
        <p:spPr>
          <a:xfrm>
            <a:off x="365760" y="1508760"/>
            <a:ext cx="3200400" cy="36576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548640" y="158191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</a:rPr>
              <a:t>🔍  Search Scope</a:t>
            </a:r>
            <a:endParaRPr lang="en-US" sz="1300" dirty="0"/>
          </a:p>
        </p:txBody>
      </p:sp>
      <p:sp>
        <p:nvSpPr>
          <p:cNvPr id="260" name="Text 258"/>
          <p:cNvSpPr/>
          <p:nvPr/>
        </p:nvSpPr>
        <p:spPr>
          <a:xfrm>
            <a:off x="548640" y="19385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Select knowledge silos to include in this query:</a:t>
            </a:r>
            <a:endParaRPr lang="en-US" sz="950" dirty="0"/>
          </a:p>
        </p:txBody>
      </p:sp>
      <p:sp>
        <p:nvSpPr>
          <p:cNvPr id="261" name="Shape 259"/>
          <p:cNvSpPr/>
          <p:nvPr/>
        </p:nvSpPr>
        <p:spPr>
          <a:xfrm>
            <a:off x="475488" y="2231136"/>
            <a:ext cx="2944368" cy="384048"/>
          </a:xfrm>
          <a:prstGeom prst="rect">
            <a:avLst/>
          </a:prstGeom>
          <a:solidFill>
            <a:srgbClr val="0A142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548640" y="2322576"/>
            <a:ext cx="219456" cy="21945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548640" y="230428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✓</a:t>
            </a:r>
            <a:endParaRPr lang="en-US" sz="1100" dirty="0"/>
          </a:p>
        </p:txBody>
      </p:sp>
      <p:sp>
        <p:nvSpPr>
          <p:cNvPr id="264" name="Text 262"/>
          <p:cNvSpPr/>
          <p:nvPr/>
        </p:nvSpPr>
        <p:spPr>
          <a:xfrm>
            <a:off x="859536" y="22860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General Knowledge</a:t>
            </a:r>
            <a:endParaRPr lang="en-US" sz="1100" dirty="0"/>
          </a:p>
        </p:txBody>
      </p:sp>
      <p:sp>
        <p:nvSpPr>
          <p:cNvPr id="265" name="Text 263"/>
          <p:cNvSpPr/>
          <p:nvPr/>
        </p:nvSpPr>
        <p:spPr>
          <a:xfrm>
            <a:off x="2724912" y="228600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0D4FF"/>
                </a:solidFill>
              </a:rPr>
              <a:t>always on</a:t>
            </a:r>
            <a:endParaRPr lang="en-US" sz="850" dirty="0"/>
          </a:p>
        </p:txBody>
      </p:sp>
      <p:sp>
        <p:nvSpPr>
          <p:cNvPr id="266" name="Text 264"/>
          <p:cNvSpPr/>
          <p:nvPr/>
        </p:nvSpPr>
        <p:spPr>
          <a:xfrm>
            <a:off x="566928" y="229514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🔒</a:t>
            </a:r>
            <a:endParaRPr lang="en-US" sz="900" dirty="0"/>
          </a:p>
        </p:txBody>
      </p:sp>
      <p:sp>
        <p:nvSpPr>
          <p:cNvPr id="267" name="Shape 265"/>
          <p:cNvSpPr/>
          <p:nvPr/>
        </p:nvSpPr>
        <p:spPr>
          <a:xfrm>
            <a:off x="475488" y="2670048"/>
            <a:ext cx="2944368" cy="384048"/>
          </a:xfrm>
          <a:prstGeom prst="rect">
            <a:avLst/>
          </a:prstGeom>
          <a:solidFill>
            <a:srgbClr val="0A142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548640" y="2761488"/>
            <a:ext cx="219456" cy="21945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548640" y="274320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✓</a:t>
            </a:r>
            <a:endParaRPr lang="en-US" sz="1100" dirty="0"/>
          </a:p>
        </p:txBody>
      </p:sp>
      <p:sp>
        <p:nvSpPr>
          <p:cNvPr id="270" name="Text 268"/>
          <p:cNvSpPr/>
          <p:nvPr/>
        </p:nvSpPr>
        <p:spPr>
          <a:xfrm>
            <a:off x="859536" y="272491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Engineering</a:t>
            </a:r>
            <a:endParaRPr lang="en-US" sz="1100" dirty="0"/>
          </a:p>
        </p:txBody>
      </p:sp>
      <p:sp>
        <p:nvSpPr>
          <p:cNvPr id="271" name="Text 269"/>
          <p:cNvSpPr/>
          <p:nvPr/>
        </p:nvSpPr>
        <p:spPr>
          <a:xfrm>
            <a:off x="2724912" y="272491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8,241 chunks</a:t>
            </a:r>
            <a:endParaRPr lang="en-US" sz="850" dirty="0"/>
          </a:p>
        </p:txBody>
      </p:sp>
      <p:sp>
        <p:nvSpPr>
          <p:cNvPr id="272" name="Shape 270"/>
          <p:cNvSpPr/>
          <p:nvPr/>
        </p:nvSpPr>
        <p:spPr>
          <a:xfrm>
            <a:off x="475488" y="3108960"/>
            <a:ext cx="2944368" cy="384048"/>
          </a:xfrm>
          <a:prstGeom prst="rect">
            <a:avLst/>
          </a:prstGeom>
          <a:solidFill>
            <a:srgbClr val="080D1A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548640" y="3200400"/>
            <a:ext cx="219456" cy="219456"/>
          </a:xfrm>
          <a:prstGeom prst="rect">
            <a:avLst/>
          </a:prstGeom>
          <a:solidFill>
            <a:srgbClr val="080D1A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859536" y="31638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HR</a:t>
            </a:r>
            <a:endParaRPr lang="en-US" sz="1100" dirty="0"/>
          </a:p>
        </p:txBody>
      </p:sp>
      <p:sp>
        <p:nvSpPr>
          <p:cNvPr id="275" name="Text 273"/>
          <p:cNvSpPr/>
          <p:nvPr/>
        </p:nvSpPr>
        <p:spPr>
          <a:xfrm>
            <a:off x="2724912" y="3163824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1,102 chunks</a:t>
            </a:r>
            <a:endParaRPr lang="en-US" sz="850" dirty="0"/>
          </a:p>
        </p:txBody>
      </p:sp>
      <p:sp>
        <p:nvSpPr>
          <p:cNvPr id="276" name="Shape 274"/>
          <p:cNvSpPr/>
          <p:nvPr/>
        </p:nvSpPr>
        <p:spPr>
          <a:xfrm>
            <a:off x="475488" y="3547872"/>
            <a:ext cx="2944368" cy="384048"/>
          </a:xfrm>
          <a:prstGeom prst="rect">
            <a:avLst/>
          </a:prstGeom>
          <a:solidFill>
            <a:srgbClr val="080D1A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548640" y="3639312"/>
            <a:ext cx="219456" cy="219456"/>
          </a:xfrm>
          <a:prstGeom prst="rect">
            <a:avLst/>
          </a:prstGeom>
          <a:solidFill>
            <a:srgbClr val="080D1A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859536" y="36027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Finance</a:t>
            </a:r>
            <a:endParaRPr lang="en-US" sz="1100" dirty="0"/>
          </a:p>
        </p:txBody>
      </p:sp>
      <p:sp>
        <p:nvSpPr>
          <p:cNvPr id="279" name="Text 277"/>
          <p:cNvSpPr/>
          <p:nvPr/>
        </p:nvSpPr>
        <p:spPr>
          <a:xfrm>
            <a:off x="2724912" y="3602736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634 chunks</a:t>
            </a:r>
            <a:endParaRPr lang="en-US" sz="850" dirty="0"/>
          </a:p>
        </p:txBody>
      </p:sp>
      <p:sp>
        <p:nvSpPr>
          <p:cNvPr id="280" name="Shape 278"/>
          <p:cNvSpPr/>
          <p:nvPr/>
        </p:nvSpPr>
        <p:spPr>
          <a:xfrm>
            <a:off x="475488" y="3986784"/>
            <a:ext cx="2944368" cy="384048"/>
          </a:xfrm>
          <a:prstGeom prst="rect">
            <a:avLst/>
          </a:prstGeom>
          <a:solidFill>
            <a:srgbClr val="080D1A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548640" y="4078224"/>
            <a:ext cx="219456" cy="219456"/>
          </a:xfrm>
          <a:prstGeom prst="rect">
            <a:avLst/>
          </a:prstGeom>
          <a:solidFill>
            <a:srgbClr val="080D1A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859536" y="404164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Platform</a:t>
            </a:r>
            <a:endParaRPr lang="en-US" sz="1100" dirty="0"/>
          </a:p>
        </p:txBody>
      </p:sp>
      <p:sp>
        <p:nvSpPr>
          <p:cNvPr id="283" name="Text 281"/>
          <p:cNvSpPr/>
          <p:nvPr/>
        </p:nvSpPr>
        <p:spPr>
          <a:xfrm>
            <a:off x="2724912" y="404164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2,890 chunks</a:t>
            </a:r>
            <a:endParaRPr lang="en-US" sz="850" dirty="0"/>
          </a:p>
        </p:txBody>
      </p:sp>
      <p:sp>
        <p:nvSpPr>
          <p:cNvPr id="284" name="Shape 282"/>
          <p:cNvSpPr/>
          <p:nvPr/>
        </p:nvSpPr>
        <p:spPr>
          <a:xfrm>
            <a:off x="475488" y="4425696"/>
            <a:ext cx="2944368" cy="384048"/>
          </a:xfrm>
          <a:prstGeom prst="rect">
            <a:avLst/>
          </a:prstGeom>
          <a:solidFill>
            <a:srgbClr val="080D1A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548640" y="4517136"/>
            <a:ext cx="219456" cy="219456"/>
          </a:xfrm>
          <a:prstGeom prst="rect">
            <a:avLst/>
          </a:prstGeom>
          <a:solidFill>
            <a:srgbClr val="080D1A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859536" y="44805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Security</a:t>
            </a:r>
            <a:endParaRPr lang="en-US" sz="1100" dirty="0"/>
          </a:p>
        </p:txBody>
      </p:sp>
      <p:sp>
        <p:nvSpPr>
          <p:cNvPr id="287" name="Text 285"/>
          <p:cNvSpPr/>
          <p:nvPr/>
        </p:nvSpPr>
        <p:spPr>
          <a:xfrm>
            <a:off x="2724912" y="448056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445 chunks</a:t>
            </a:r>
            <a:endParaRPr lang="en-US" sz="850" dirty="0"/>
          </a:p>
        </p:txBody>
      </p:sp>
      <p:sp>
        <p:nvSpPr>
          <p:cNvPr id="288" name="Shape 286"/>
          <p:cNvSpPr/>
          <p:nvPr/>
        </p:nvSpPr>
        <p:spPr>
          <a:xfrm>
            <a:off x="2148840" y="4645152"/>
            <a:ext cx="1234440" cy="274320"/>
          </a:xfrm>
          <a:prstGeom prst="roundRect">
            <a:avLst>
              <a:gd name="adj" fmla="val 33333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2148840" y="46451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060D"/>
                </a:solidFill>
              </a:rPr>
              <a:t>Apply Scope</a:t>
            </a:r>
            <a:endParaRPr lang="en-US" sz="950" dirty="0"/>
          </a:p>
        </p:txBody>
      </p:sp>
      <p:sp>
        <p:nvSpPr>
          <p:cNvPr id="290" name="Shape 288"/>
          <p:cNvSpPr/>
          <p:nvPr/>
        </p:nvSpPr>
        <p:spPr>
          <a:xfrm>
            <a:off x="3749040" y="1508760"/>
            <a:ext cx="2423160" cy="749808"/>
          </a:xfrm>
          <a:prstGeom prst="rect">
            <a:avLst/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1" name="Shape 289"/>
          <p:cNvSpPr/>
          <p:nvPr/>
        </p:nvSpPr>
        <p:spPr>
          <a:xfrm>
            <a:off x="3749040" y="1508760"/>
            <a:ext cx="2423160" cy="36576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3749040" y="1508760"/>
            <a:ext cx="45720" cy="7498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3" name="Text 291"/>
          <p:cNvSpPr/>
          <p:nvPr/>
        </p:nvSpPr>
        <p:spPr>
          <a:xfrm>
            <a:off x="3858768" y="16550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94" name="Text 292"/>
          <p:cNvSpPr/>
          <p:nvPr/>
        </p:nvSpPr>
        <p:spPr>
          <a:xfrm>
            <a:off x="4224528" y="1600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General — Always On</a:t>
            </a:r>
            <a:endParaRPr lang="en-US" sz="1100" dirty="0"/>
          </a:p>
        </p:txBody>
      </p:sp>
      <p:sp>
        <p:nvSpPr>
          <p:cNvPr id="295" name="Text 293"/>
          <p:cNvSpPr/>
          <p:nvPr/>
        </p:nvSpPr>
        <p:spPr>
          <a:xfrm>
            <a:off x="4224528" y="18745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Company handbook, all-hands notes, cross-team docs. Visible to every user. Cannot be unchecked.</a:t>
            </a:r>
            <a:endParaRPr lang="en-US" sz="900" dirty="0"/>
          </a:p>
        </p:txBody>
      </p:sp>
      <p:sp>
        <p:nvSpPr>
          <p:cNvPr id="296" name="Shape 294"/>
          <p:cNvSpPr/>
          <p:nvPr/>
        </p:nvSpPr>
        <p:spPr>
          <a:xfrm>
            <a:off x="3749040" y="2386584"/>
            <a:ext cx="2423160" cy="749808"/>
          </a:xfrm>
          <a:prstGeom prst="rect">
            <a:avLst/>
          </a:prstGeom>
          <a:solidFill>
            <a:srgbClr val="0C1220"/>
          </a:solidFill>
          <a:ln w="12700">
            <a:solidFill>
              <a:srgbClr val="00FF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7" name="Shape 295"/>
          <p:cNvSpPr/>
          <p:nvPr/>
        </p:nvSpPr>
        <p:spPr>
          <a:xfrm>
            <a:off x="3749040" y="2386584"/>
            <a:ext cx="2423160" cy="36576"/>
          </a:xfrm>
          <a:prstGeom prst="rect">
            <a:avLst/>
          </a:prstGeom>
          <a:solidFill>
            <a:srgbClr val="00FF9D">
              <a:alpha val="70000"/>
            </a:srgbClr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3749040" y="2386584"/>
            <a:ext cx="45720" cy="74980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99" name="Text 297"/>
          <p:cNvSpPr/>
          <p:nvPr/>
        </p:nvSpPr>
        <p:spPr>
          <a:xfrm>
            <a:off x="3858768" y="2532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☑</a:t>
            </a:r>
            <a:endParaRPr lang="en-US" sz="1800" dirty="0"/>
          </a:p>
        </p:txBody>
      </p:sp>
      <p:sp>
        <p:nvSpPr>
          <p:cNvPr id="300" name="Text 298"/>
          <p:cNvSpPr/>
          <p:nvPr/>
        </p:nvSpPr>
        <p:spPr>
          <a:xfrm>
            <a:off x="4224528" y="24780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User-Controlled</a:t>
            </a:r>
            <a:endParaRPr lang="en-US" sz="1100" dirty="0"/>
          </a:p>
        </p:txBody>
      </p:sp>
      <p:sp>
        <p:nvSpPr>
          <p:cNvPr id="301" name="Text 299"/>
          <p:cNvSpPr/>
          <p:nvPr/>
        </p:nvSpPr>
        <p:spPr>
          <a:xfrm>
            <a:off x="4224528" y="27523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Each user picks which silos to include before asking. Selection persists across sessions.</a:t>
            </a:r>
            <a:endParaRPr lang="en-US" sz="900" dirty="0"/>
          </a:p>
        </p:txBody>
      </p:sp>
      <p:sp>
        <p:nvSpPr>
          <p:cNvPr id="302" name="Shape 300"/>
          <p:cNvSpPr/>
          <p:nvPr/>
        </p:nvSpPr>
        <p:spPr>
          <a:xfrm>
            <a:off x="3749040" y="3264408"/>
            <a:ext cx="2423160" cy="749808"/>
          </a:xfrm>
          <a:prstGeom prst="rect">
            <a:avLst/>
          </a:prstGeom>
          <a:solidFill>
            <a:srgbClr val="0C1220"/>
          </a:solidFill>
          <a:ln w="12700">
            <a:solidFill>
              <a:srgbClr val="FFB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3" name="Shape 301"/>
          <p:cNvSpPr/>
          <p:nvPr/>
        </p:nvSpPr>
        <p:spPr>
          <a:xfrm>
            <a:off x="3749040" y="3264408"/>
            <a:ext cx="2423160" cy="36576"/>
          </a:xfrm>
          <a:prstGeom prst="rect">
            <a:avLst/>
          </a:prstGeom>
          <a:solidFill>
            <a:srgbClr val="FFB740">
              <a:alpha val="70000"/>
            </a:srgbClr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3749040" y="3264408"/>
            <a:ext cx="45720" cy="749808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305" name="Text 303"/>
          <p:cNvSpPr/>
          <p:nvPr/>
        </p:nvSpPr>
        <p:spPr>
          <a:xfrm>
            <a:off x="3858768" y="34107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306" name="Text 304"/>
          <p:cNvSpPr/>
          <p:nvPr/>
        </p:nvSpPr>
        <p:spPr>
          <a:xfrm>
            <a:off x="4224528" y="3355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Access Enforced</a:t>
            </a:r>
            <a:endParaRPr lang="en-US" sz="1100" dirty="0"/>
          </a:p>
        </p:txBody>
      </p:sp>
      <p:sp>
        <p:nvSpPr>
          <p:cNvPr id="307" name="Text 305"/>
          <p:cNvSpPr/>
          <p:nvPr/>
        </p:nvSpPr>
        <p:spPr>
          <a:xfrm>
            <a:off x="4224528" y="363016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Users only see checkboxes for departments they've been granted access to by an admin.</a:t>
            </a:r>
            <a:endParaRPr lang="en-US" sz="900" dirty="0"/>
          </a:p>
        </p:txBody>
      </p:sp>
      <p:sp>
        <p:nvSpPr>
          <p:cNvPr id="308" name="Shape 306"/>
          <p:cNvSpPr/>
          <p:nvPr/>
        </p:nvSpPr>
        <p:spPr>
          <a:xfrm>
            <a:off x="3749040" y="4142232"/>
            <a:ext cx="2423160" cy="749808"/>
          </a:xfrm>
          <a:prstGeom prst="rect">
            <a:avLst/>
          </a:prstGeom>
          <a:solidFill>
            <a:srgbClr val="0C1220"/>
          </a:solidFill>
          <a:ln w="12700">
            <a:solidFill>
              <a:srgbClr val="9D6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9" name="Shape 307"/>
          <p:cNvSpPr/>
          <p:nvPr/>
        </p:nvSpPr>
        <p:spPr>
          <a:xfrm>
            <a:off x="3749040" y="4142232"/>
            <a:ext cx="2423160" cy="36576"/>
          </a:xfrm>
          <a:prstGeom prst="rect">
            <a:avLst/>
          </a:prstGeom>
          <a:solidFill>
            <a:srgbClr val="9D6FFF">
              <a:alpha val="70000"/>
            </a:srgbClr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3749040" y="4142232"/>
            <a:ext cx="45720" cy="749808"/>
          </a:xfrm>
          <a:prstGeom prst="rect">
            <a:avLst/>
          </a:prstGeom>
          <a:solidFill>
            <a:srgbClr val="9D6FFF"/>
          </a:solidFill>
          <a:ln w="12700">
            <a:solidFill>
              <a:srgbClr val="9D6FFF"/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3858768" y="4288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312" name="Text 310"/>
          <p:cNvSpPr/>
          <p:nvPr/>
        </p:nvSpPr>
        <p:spPr>
          <a:xfrm>
            <a:off x="4224528" y="42336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Per-Query Flexible</a:t>
            </a:r>
            <a:endParaRPr lang="en-US" sz="1100" dirty="0"/>
          </a:p>
        </p:txBody>
      </p:sp>
      <p:sp>
        <p:nvSpPr>
          <p:cNvPr id="313" name="Text 311"/>
          <p:cNvSpPr/>
          <p:nvPr/>
        </p:nvSpPr>
        <p:spPr>
          <a:xfrm>
            <a:off x="4224528" y="45079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Switch scope mid-conversation. Ask an engineering question, then switch scope to HR — no page reload.</a:t>
            </a:r>
            <a:endParaRPr lang="en-US" sz="900" dirty="0"/>
          </a:p>
        </p:txBody>
      </p:sp>
      <p:sp>
        <p:nvSpPr>
          <p:cNvPr id="314" name="Shape 312"/>
          <p:cNvSpPr/>
          <p:nvPr/>
        </p:nvSpPr>
        <p:spPr>
          <a:xfrm>
            <a:off x="6355080" y="1508760"/>
            <a:ext cx="2423160" cy="1664208"/>
          </a:xfrm>
          <a:prstGeom prst="rect">
            <a:avLst/>
          </a:prstGeom>
          <a:solidFill>
            <a:srgbClr val="0C1220"/>
          </a:solidFill>
          <a:ln w="12700">
            <a:solidFill>
              <a:srgbClr val="1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5" name="Text 313"/>
          <p:cNvSpPr/>
          <p:nvPr/>
        </p:nvSpPr>
        <p:spPr>
          <a:xfrm>
            <a:off x="6492240" y="157276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F"/>
                </a:solidFill>
              </a:rPr>
              <a:t>What happens under the hood</a:t>
            </a:r>
            <a:endParaRPr lang="en-US" sz="1000" dirty="0"/>
          </a:p>
        </p:txBody>
      </p:sp>
      <p:sp>
        <p:nvSpPr>
          <p:cNvPr id="316" name="Text 314"/>
          <p:cNvSpPr/>
          <p:nvPr/>
        </p:nvSpPr>
        <p:spPr>
          <a:xfrm>
            <a:off x="6492240" y="187452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</a:rPr>
              <a:t>User checks: General + Engineering + HR</a:t>
            </a:r>
            <a:endParaRPr lang="en-US" sz="900" dirty="0"/>
          </a:p>
        </p:txBody>
      </p:sp>
      <p:sp>
        <p:nvSpPr>
          <p:cNvPr id="317" name="Text 315"/>
          <p:cNvSpPr/>
          <p:nvPr/>
        </p:nvSpPr>
        <p:spPr>
          <a:xfrm>
            <a:off x="6400800" y="2176272"/>
            <a:ext cx="2286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buNone/>
            </a:pPr>
            <a:r>
              <a:rPr lang="en-US" sz="1000" dirty="0">
                <a:solidFill>
                  <a:srgbClr val="C8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department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 (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'general',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'engineering',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'hr'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000" dirty="0"/>
          </a:p>
        </p:txBody>
      </p:sp>
      <p:sp>
        <p:nvSpPr>
          <p:cNvPr id="318" name="Shape 316"/>
          <p:cNvSpPr/>
          <p:nvPr/>
        </p:nvSpPr>
        <p:spPr>
          <a:xfrm>
            <a:off x="6355080" y="3291840"/>
            <a:ext cx="2423160" cy="1645920"/>
          </a:xfrm>
          <a:prstGeom prst="rect">
            <a:avLst/>
          </a:prstGeom>
          <a:solidFill>
            <a:srgbClr val="0C1220"/>
          </a:solidFill>
          <a:ln w="12700">
            <a:solidFill>
              <a:srgbClr val="1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9" name="Shape 317"/>
          <p:cNvSpPr/>
          <p:nvPr/>
        </p:nvSpPr>
        <p:spPr>
          <a:xfrm>
            <a:off x="6355080" y="3291840"/>
            <a:ext cx="2423160" cy="36576"/>
          </a:xfrm>
          <a:prstGeom prst="rect">
            <a:avLst/>
          </a:prstGeom>
          <a:solidFill>
            <a:srgbClr val="FF4D6D">
              <a:alpha val="7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6492240" y="335584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D"/>
                </a:solidFill>
              </a:rPr>
              <a:t>❌  Old Approach</a:t>
            </a:r>
            <a:endParaRPr lang="en-US" sz="1000" dirty="0"/>
          </a:p>
        </p:txBody>
      </p:sp>
      <p:sp>
        <p:nvSpPr>
          <p:cNvPr id="321" name="Text 319"/>
          <p:cNvSpPr/>
          <p:nvPr/>
        </p:nvSpPr>
        <p:spPr>
          <a:xfrm>
            <a:off x="6492240" y="36576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Automatic scope lock 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user's assigned department.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No flexibility.</a:t>
            </a:r>
            <a:endParaRPr lang="en-US" sz="900" dirty="0"/>
          </a:p>
        </p:txBody>
      </p:sp>
      <p:sp>
        <p:nvSpPr>
          <p:cNvPr id="322" name="Shape 320"/>
          <p:cNvSpPr/>
          <p:nvPr/>
        </p:nvSpPr>
        <p:spPr>
          <a:xfrm>
            <a:off x="6355080" y="4224528"/>
            <a:ext cx="2423160" cy="36576"/>
          </a:xfrm>
          <a:prstGeom prst="rect">
            <a:avLst/>
          </a:prstGeom>
          <a:solidFill>
            <a:srgbClr val="00FF9D">
              <a:alpha val="70000"/>
            </a:srgbClr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323" name="Text 321"/>
          <p:cNvSpPr/>
          <p:nvPr/>
        </p:nvSpPr>
        <p:spPr>
          <a:xfrm>
            <a:off x="6492240" y="427939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D"/>
                </a:solidFill>
              </a:rPr>
              <a:t>✅  New Approach</a:t>
            </a:r>
            <a:endParaRPr lang="en-US" sz="1000" dirty="0"/>
          </a:p>
        </p:txBody>
      </p:sp>
      <p:sp>
        <p:nvSpPr>
          <p:cNvPr id="324" name="Text 322"/>
          <p:cNvSpPr/>
          <p:nvPr/>
        </p:nvSpPr>
        <p:spPr>
          <a:xfrm>
            <a:off x="6492240" y="455371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User picks scope per query.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General always 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Access still enforced.</a:t>
            </a:r>
            <a:endParaRPr lang="en-US" sz="900" dirty="0"/>
          </a:p>
        </p:txBody>
      </p:sp>
      <p:sp>
        <p:nvSpPr>
          <p:cNvPr id="325" name="Text 323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New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Must-IQ — Internal AI Platform</dc:title>
  <dc:subject>PptxGenJS Presentation</dc:subject>
  <dc:creator>Must Company</dc:creator>
  <cp:lastModifiedBy>Must Company</cp:lastModifiedBy>
  <cp:revision>1</cp:revision>
  <dcterms:created xsi:type="dcterms:W3CDTF">2026-03-06T05:56:03Z</dcterms:created>
  <dcterms:modified xsi:type="dcterms:W3CDTF">2026-03-06T05:56:03Z</dcterms:modified>
</cp:coreProperties>
</file>